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56" r:id="rId2"/>
    <p:sldId id="265" r:id="rId3"/>
    <p:sldId id="257" r:id="rId4"/>
    <p:sldId id="258" r:id="rId5"/>
    <p:sldId id="259" r:id="rId6"/>
    <p:sldId id="260" r:id="rId7"/>
    <p:sldId id="261" r:id="rId8"/>
  </p:sldIdLst>
  <p:sldSz cx="18288000" cy="10287000"/>
  <p:notesSz cx="6858000" cy="9144000"/>
  <p:embeddedFontLst>
    <p:embeddedFont>
      <p:font typeface="Calibri" pitchFamily="34" charset="0"/>
      <p:regular r:id="rId10"/>
      <p:bold r:id="rId11"/>
      <p:italic r:id="rId12"/>
      <p:boldItalic r:id="rId13"/>
    </p:embeddedFont>
    <p:embeddedFont>
      <p:font typeface="Futura" charset="0"/>
      <p:regular r:id="rId14"/>
    </p:embeddedFont>
    <p:embeddedFont>
      <p:font typeface="Poppins Light" charset="0"/>
      <p:regular r:id="rId15"/>
    </p:embeddedFont>
    <p:embeddedFont>
      <p:font typeface="Futura Bold" charset="0"/>
      <p:regular r:id="rId16"/>
    </p:embeddedFont>
    <p:embeddedFont>
      <p:font typeface="Poppins Bold" charset="0"/>
      <p:regular r:id="rId17"/>
    </p:embeddedFont>
    <p:embeddedFont>
      <p:font typeface="Microsoft Yi Baiti" pitchFamily="66" charset="0"/>
      <p:regular r:id="rId18"/>
    </p:embeddedFont>
    <p:embeddedFont>
      <p:font typeface="Bradley Hand ITC" pitchFamily="66"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3689" autoAdjust="0"/>
    <p:restoredTop sz="94622" autoAdjust="0"/>
  </p:normalViewPr>
  <p:slideViewPr>
    <p:cSldViewPr>
      <p:cViewPr>
        <p:scale>
          <a:sx n="60" d="100"/>
          <a:sy n="60" d="100"/>
        </p:scale>
        <p:origin x="-109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1D9EC3-BB2E-4989-A359-A93F76168E7C}" type="datetimeFigureOut">
              <a:rPr lang="en-US" smtClean="0"/>
              <a:t>9/9/2026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9F6F05E-2D7C-4757-81B3-37C1661AE28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9F6F05E-2D7C-4757-81B3-37C1661AE288}" type="slidenum">
              <a:rPr lang="en-US" smtClean="0"/>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3.png"/><Relationship Id="rId4" Type="http://schemas.openxmlformats.org/officeDocument/2006/relationships/image" Target="../media/image3.svg"/><Relationship Id="rId9"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68002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6"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dpi="0" rotWithShape="1">
            <a:blip r:embed="rId2" cstate="print">
              <a:alphaModFix amt="39000"/>
              <a:lum bright="13000"/>
            </a:blip>
            <a:srcRect/>
            <a:stretch>
              <a:fillRect t="-9259" b="-9259"/>
            </a:stretch>
          </a:blipFill>
          <a:effectLst>
            <a:outerShdw blurRad="50800" dist="50800" dir="5400000" algn="ctr" rotWithShape="0">
              <a:srgbClr val="000000">
                <a:alpha val="71000"/>
              </a:srgbClr>
            </a:outerShdw>
          </a:effectLst>
        </p:spPr>
      </p:sp>
      <p:grpSp>
        <p:nvGrpSpPr>
          <p:cNvPr id="5" name="Group 5"/>
          <p:cNvGrpSpPr/>
          <p:nvPr/>
        </p:nvGrpSpPr>
        <p:grpSpPr>
          <a:xfrm>
            <a:off x="687821" y="869261"/>
            <a:ext cx="16912358" cy="934853"/>
            <a:chOff x="0" y="0"/>
            <a:chExt cx="4274726" cy="236291"/>
          </a:xfrm>
        </p:grpSpPr>
        <p:sp>
          <p:nvSpPr>
            <p:cNvPr id="6" name="Freeform 6"/>
            <p:cNvSpPr/>
            <p:nvPr/>
          </p:nvSpPr>
          <p:spPr>
            <a:xfrm>
              <a:off x="0" y="0"/>
              <a:ext cx="4274726" cy="236291"/>
            </a:xfrm>
            <a:custGeom>
              <a:avLst/>
              <a:gdLst/>
              <a:ahLst/>
              <a:cxnLst/>
              <a:rect l="l" t="t" r="r" b="b"/>
              <a:pathLst>
                <a:path w="4274726" h="236291">
                  <a:moveTo>
                    <a:pt x="45777" y="0"/>
                  </a:moveTo>
                  <a:lnTo>
                    <a:pt x="4228949" y="0"/>
                  </a:lnTo>
                  <a:cubicBezTo>
                    <a:pt x="4254231" y="0"/>
                    <a:pt x="4274726" y="20495"/>
                    <a:pt x="4274726" y="45777"/>
                  </a:cubicBezTo>
                  <a:lnTo>
                    <a:pt x="4274726" y="190514"/>
                  </a:lnTo>
                  <a:cubicBezTo>
                    <a:pt x="4274726" y="215796"/>
                    <a:pt x="4254231" y="236291"/>
                    <a:pt x="4228949" y="236291"/>
                  </a:cubicBezTo>
                  <a:lnTo>
                    <a:pt x="45777" y="236291"/>
                  </a:lnTo>
                  <a:cubicBezTo>
                    <a:pt x="20495" y="236291"/>
                    <a:pt x="0" y="215796"/>
                    <a:pt x="0" y="190514"/>
                  </a:cubicBezTo>
                  <a:lnTo>
                    <a:pt x="0" y="45777"/>
                  </a:lnTo>
                  <a:cubicBezTo>
                    <a:pt x="0" y="20495"/>
                    <a:pt x="20495" y="0"/>
                    <a:pt x="45777" y="0"/>
                  </a:cubicBezTo>
                  <a:close/>
                </a:path>
              </a:pathLst>
            </a:custGeom>
            <a:gradFill rotWithShape="1">
              <a:gsLst>
                <a:gs pos="0">
                  <a:srgbClr val="6E001E">
                    <a:alpha val="66000"/>
                  </a:srgbClr>
                </a:gs>
                <a:gs pos="50000">
                  <a:srgbClr val="65204C">
                    <a:alpha val="66000"/>
                  </a:srgbClr>
                </a:gs>
                <a:gs pos="100000">
                  <a:srgbClr val="69465D">
                    <a:alpha val="66000"/>
                  </a:srgbClr>
                </a:gs>
              </a:gsLst>
              <a:lin ang="2700000"/>
            </a:gradFill>
            <a:ln w="19050" cap="rnd">
              <a:solidFill>
                <a:srgbClr val="FFFFFF">
                  <a:alpha val="65882"/>
                </a:srgbClr>
              </a:solidFill>
              <a:prstDash val="solid"/>
              <a:round/>
            </a:ln>
          </p:spPr>
        </p:sp>
        <p:sp>
          <p:nvSpPr>
            <p:cNvPr id="7" name="TextBox 7"/>
            <p:cNvSpPr txBox="1"/>
            <p:nvPr/>
          </p:nvSpPr>
          <p:spPr>
            <a:xfrm>
              <a:off x="0" y="-57150"/>
              <a:ext cx="4274726" cy="293441"/>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4807570" y="2288371"/>
            <a:ext cx="1277407" cy="1277407"/>
          </a:xfrm>
          <a:custGeom>
            <a:avLst/>
            <a:gdLst/>
            <a:ahLst/>
            <a:cxnLst/>
            <a:rect l="l" t="t" r="r" b="b"/>
            <a:pathLst>
              <a:path w="1277407" h="1277407">
                <a:moveTo>
                  <a:pt x="0" y="0"/>
                </a:moveTo>
                <a:lnTo>
                  <a:pt x="1277407" y="0"/>
                </a:lnTo>
                <a:lnTo>
                  <a:pt x="1277407" y="1277407"/>
                </a:lnTo>
                <a:lnTo>
                  <a:pt x="0" y="1277407"/>
                </a:lnTo>
                <a:lnTo>
                  <a:pt x="0" y="0"/>
                </a:lnTo>
                <a:close/>
              </a:path>
            </a:pathLst>
          </a:custGeom>
          <a:blipFill>
            <a:blip r:embed="rId3" cstate="print">
              <a:extLst>
                <a:ext uri="{96DAC541-7B7A-43D3-8B79-37D633B846F1}">
                  <asvg:svgBlip xmlns="" xmlns:asvg="http://schemas.microsoft.com/office/drawing/2016/SVG/main" r:embed="rId4"/>
                </a:ext>
              </a:extLst>
            </a:blip>
            <a:stretch>
              <a:fillRect/>
            </a:stretch>
          </a:blipFill>
        </p:spPr>
      </p:sp>
      <p:sp>
        <p:nvSpPr>
          <p:cNvPr id="9" name="TextBox 9"/>
          <p:cNvSpPr txBox="1"/>
          <p:nvPr/>
        </p:nvSpPr>
        <p:spPr>
          <a:xfrm>
            <a:off x="4648200" y="5981700"/>
            <a:ext cx="13106400" cy="1769715"/>
          </a:xfrm>
          <a:prstGeom prst="rect">
            <a:avLst/>
          </a:prstGeom>
        </p:spPr>
        <p:txBody>
          <a:bodyPr wrap="square" lIns="0" tIns="0" rIns="0" bIns="0" rtlCol="0" anchor="t">
            <a:spAutoFit/>
          </a:bodyPr>
          <a:lstStyle/>
          <a:p>
            <a:pPr algn="r">
              <a:lnSpc>
                <a:spcPts val="13784"/>
              </a:lnSpc>
            </a:pPr>
            <a:r>
              <a:rPr lang="en-US" sz="13647" spc="-395" dirty="0" smtClean="0">
                <a:solidFill>
                  <a:srgbClr val="FFFFFF"/>
                </a:solidFill>
                <a:latin typeface="Futura"/>
                <a:ea typeface="Futura"/>
                <a:cs typeface="Futura"/>
                <a:sym typeface="Futura"/>
              </a:rPr>
              <a:t>LEGACY LOCK</a:t>
            </a:r>
            <a:endParaRPr lang="en-US" sz="13647" spc="-395" dirty="0">
              <a:solidFill>
                <a:srgbClr val="FFFFFF"/>
              </a:solidFill>
              <a:latin typeface="Futura"/>
              <a:ea typeface="Futura"/>
              <a:cs typeface="Futura"/>
              <a:sym typeface="Futura"/>
            </a:endParaRPr>
          </a:p>
        </p:txBody>
      </p:sp>
      <p:sp>
        <p:nvSpPr>
          <p:cNvPr id="11" name="TextBox 11"/>
          <p:cNvSpPr txBox="1"/>
          <p:nvPr/>
        </p:nvSpPr>
        <p:spPr>
          <a:xfrm>
            <a:off x="1100048" y="1192391"/>
            <a:ext cx="5453152" cy="282129"/>
          </a:xfrm>
          <a:prstGeom prst="rect">
            <a:avLst/>
          </a:prstGeom>
        </p:spPr>
        <p:txBody>
          <a:bodyPr wrap="square" lIns="0" tIns="0" rIns="0" bIns="0" rtlCol="0" anchor="t">
            <a:spAutoFit/>
          </a:bodyPr>
          <a:lstStyle/>
          <a:p>
            <a:pPr marL="449935" lvl="1" indent="-224967" algn="l">
              <a:lnSpc>
                <a:spcPts val="2188"/>
              </a:lnSpc>
              <a:buFont typeface="Arial"/>
              <a:buChar char="•"/>
            </a:pPr>
            <a:r>
              <a:rPr lang="en-US" sz="2083" spc="-20" dirty="0" smtClean="0">
                <a:solidFill>
                  <a:srgbClr val="FFFFFF"/>
                </a:solidFill>
                <a:latin typeface="Poppins Light"/>
                <a:ea typeface="Poppins Light"/>
                <a:cs typeface="Poppins Light"/>
                <a:sym typeface="Poppins Light"/>
              </a:rPr>
              <a:t>ALL INDIA AGENTIC HACKATHON 2026</a:t>
            </a:r>
            <a:endParaRPr lang="en-US" sz="2083" spc="-20" dirty="0">
              <a:solidFill>
                <a:srgbClr val="FFFFFF"/>
              </a:solidFill>
              <a:latin typeface="Poppins Light"/>
              <a:ea typeface="Poppins Light"/>
              <a:cs typeface="Poppins Light"/>
              <a:sym typeface="Poppins Light"/>
            </a:endParaRPr>
          </a:p>
        </p:txBody>
      </p:sp>
      <p:sp>
        <p:nvSpPr>
          <p:cNvPr id="13" name="TextBox 13"/>
          <p:cNvSpPr txBox="1"/>
          <p:nvPr/>
        </p:nvSpPr>
        <p:spPr>
          <a:xfrm>
            <a:off x="14630400" y="1192390"/>
            <a:ext cx="2248485" cy="282129"/>
          </a:xfrm>
          <a:prstGeom prst="rect">
            <a:avLst/>
          </a:prstGeom>
        </p:spPr>
        <p:txBody>
          <a:bodyPr wrap="square" lIns="0" tIns="0" rIns="0" bIns="0" rtlCol="0" anchor="t">
            <a:spAutoFit/>
          </a:bodyPr>
          <a:lstStyle/>
          <a:p>
            <a:pPr algn="r">
              <a:lnSpc>
                <a:spcPts val="2188"/>
              </a:lnSpc>
            </a:pPr>
            <a:r>
              <a:rPr lang="en-US" sz="2083" spc="-20" dirty="0" smtClean="0">
                <a:solidFill>
                  <a:srgbClr val="FFFFFF"/>
                </a:solidFill>
                <a:latin typeface="Poppins Light"/>
                <a:ea typeface="Poppins Light"/>
                <a:cs typeface="Poppins Light"/>
                <a:sym typeface="Poppins Light"/>
              </a:rPr>
              <a:t>GOOGLE CLOUD</a:t>
            </a:r>
            <a:endParaRPr lang="en-US" sz="2083" spc="-20" dirty="0">
              <a:solidFill>
                <a:srgbClr val="FFFFFF"/>
              </a:solidFill>
              <a:latin typeface="Poppins Light"/>
              <a:ea typeface="Poppins Light"/>
              <a:cs typeface="Poppins Light"/>
              <a:sym typeface="Poppins Light"/>
            </a:endParaRPr>
          </a:p>
        </p:txBody>
      </p:sp>
      <p:sp>
        <p:nvSpPr>
          <p:cNvPr id="19" name="TextBox 11"/>
          <p:cNvSpPr txBox="1"/>
          <p:nvPr/>
        </p:nvSpPr>
        <p:spPr>
          <a:xfrm>
            <a:off x="6400800" y="7962900"/>
            <a:ext cx="11353800" cy="286360"/>
          </a:xfrm>
          <a:prstGeom prst="rect">
            <a:avLst/>
          </a:prstGeom>
        </p:spPr>
        <p:txBody>
          <a:bodyPr wrap="square" lIns="0" tIns="0" rIns="0" bIns="0" rtlCol="0" anchor="t">
            <a:spAutoFit/>
          </a:bodyPr>
          <a:lstStyle/>
          <a:p>
            <a:pPr marL="449935" lvl="1" indent="-224967" algn="r">
              <a:lnSpc>
                <a:spcPts val="2188"/>
              </a:lnSpc>
            </a:pPr>
            <a:r>
              <a:rPr lang="en-US" sz="2083" spc="-20" dirty="0" smtClean="0">
                <a:solidFill>
                  <a:srgbClr val="FFFFFF"/>
                </a:solidFill>
                <a:latin typeface="Poppins Light"/>
                <a:ea typeface="Poppins Light"/>
                <a:cs typeface="Poppins Light"/>
                <a:sym typeface="Poppins Light"/>
              </a:rPr>
              <a:t>A security Continuity &amp; Claim-Preparation Platform for Financial and Digital assets</a:t>
            </a:r>
            <a:endParaRPr lang="en-US" sz="2083" spc="-20" dirty="0">
              <a:solidFill>
                <a:srgbClr val="FFFFFF"/>
              </a:solidFill>
              <a:latin typeface="Poppins Light"/>
              <a:ea typeface="Poppins Light"/>
              <a:cs typeface="Poppins Light"/>
              <a:sym typeface="Poppins Light"/>
            </a:endParaRPr>
          </a:p>
        </p:txBody>
      </p:sp>
      <p:sp>
        <p:nvSpPr>
          <p:cNvPr id="20" name="Freeform 5"/>
          <p:cNvSpPr/>
          <p:nvPr/>
        </p:nvSpPr>
        <p:spPr>
          <a:xfrm>
            <a:off x="-1600200" y="1668080"/>
            <a:ext cx="8610600" cy="7437820"/>
          </a:xfrm>
          <a:custGeom>
            <a:avLst/>
            <a:gdLst/>
            <a:ahLst/>
            <a:cxnLst/>
            <a:rect l="l" t="t" r="r" b="b"/>
            <a:pathLst>
              <a:path w="8504620" h="8504620">
                <a:moveTo>
                  <a:pt x="0" y="0"/>
                </a:moveTo>
                <a:lnTo>
                  <a:pt x="8504620" y="0"/>
                </a:lnTo>
                <a:lnTo>
                  <a:pt x="8504620" y="8504620"/>
                </a:lnTo>
                <a:lnTo>
                  <a:pt x="0" y="8504620"/>
                </a:lnTo>
                <a:lnTo>
                  <a:pt x="0" y="0"/>
                </a:lnTo>
                <a:close/>
              </a:path>
            </a:pathLst>
          </a:custGeom>
          <a:blipFill>
            <a:blip r:embed="rId5" cstate="print">
              <a:alphaModFix amt="30000"/>
              <a:extLst>
                <a:ext uri="{96DAC541-7B7A-43D3-8B79-37D633B846F1}">
                  <asvg:svgBlip xmlns="" xmlns:asvg="http://schemas.microsoft.com/office/drawing/2016/SVG/main" r:embed="rId6"/>
                </a:ext>
              </a:extLst>
            </a:blip>
            <a:stretch>
              <a:fillRect/>
            </a:stretch>
          </a:blipFill>
        </p:spPr>
      </p:sp>
      <p:sp>
        <p:nvSpPr>
          <p:cNvPr id="21" name="Freeform 4"/>
          <p:cNvSpPr/>
          <p:nvPr/>
        </p:nvSpPr>
        <p:spPr>
          <a:xfrm>
            <a:off x="1295400" y="4076700"/>
            <a:ext cx="3352800" cy="3508835"/>
          </a:xfrm>
          <a:custGeom>
            <a:avLst/>
            <a:gdLst/>
            <a:ahLst/>
            <a:cxnLst/>
            <a:rect l="l" t="t" r="r" b="b"/>
            <a:pathLst>
              <a:path w="7179489" h="7166435">
                <a:moveTo>
                  <a:pt x="0" y="0"/>
                </a:moveTo>
                <a:lnTo>
                  <a:pt x="7179489" y="0"/>
                </a:lnTo>
                <a:lnTo>
                  <a:pt x="7179489" y="7166436"/>
                </a:lnTo>
                <a:lnTo>
                  <a:pt x="0" y="7166436"/>
                </a:lnTo>
                <a:lnTo>
                  <a:pt x="0" y="0"/>
                </a:lnTo>
                <a:close/>
              </a:path>
            </a:pathLst>
          </a:custGeom>
          <a:blipFill>
            <a:blip r:embed="rId7" cstate="print">
              <a:lum bright="70000" contrast="-70000"/>
              <a:extLst>
                <a:ext uri="{96DAC541-7B7A-43D3-8B79-37D633B846F1}">
                  <asvg:svgBlip xmlns="" xmlns:asvg="http://schemas.microsoft.com/office/drawing/2016/SVG/main" r:embed="rId8"/>
                </a:ext>
              </a:extLst>
            </a:blip>
            <a:stretch>
              <a:fillRect/>
            </a:stretch>
          </a:blipFill>
        </p:spPr>
      </p:sp>
      <p:grpSp>
        <p:nvGrpSpPr>
          <p:cNvPr id="22" name="Group 10"/>
          <p:cNvGrpSpPr/>
          <p:nvPr/>
        </p:nvGrpSpPr>
        <p:grpSpPr>
          <a:xfrm>
            <a:off x="1524000" y="4305300"/>
            <a:ext cx="2895600" cy="3048000"/>
            <a:chOff x="0" y="0"/>
            <a:chExt cx="812800" cy="812800"/>
          </a:xfrm>
        </p:grpSpPr>
        <p:sp>
          <p:nvSpPr>
            <p:cNvPr id="23"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cstate="print"/>
              <a:stretch>
                <a:fillRect l="-16747" r="-16747"/>
              </a:stretch>
            </a:blipFill>
          </p:spPr>
        </p:sp>
      </p:grpSp>
      <p:sp>
        <p:nvSpPr>
          <p:cNvPr id="15" name="TextBox 11"/>
          <p:cNvSpPr txBox="1"/>
          <p:nvPr/>
        </p:nvSpPr>
        <p:spPr>
          <a:xfrm>
            <a:off x="6400800" y="8267700"/>
            <a:ext cx="11353800" cy="286360"/>
          </a:xfrm>
          <a:prstGeom prst="rect">
            <a:avLst/>
          </a:prstGeom>
        </p:spPr>
        <p:txBody>
          <a:bodyPr wrap="square" lIns="0" tIns="0" rIns="0" bIns="0" rtlCol="0" anchor="t">
            <a:spAutoFit/>
          </a:bodyPr>
          <a:lstStyle/>
          <a:p>
            <a:pPr marL="449935" lvl="1" indent="-224967" algn="r">
              <a:lnSpc>
                <a:spcPts val="2188"/>
              </a:lnSpc>
            </a:pPr>
            <a:r>
              <a:rPr lang="en-US" sz="2083" spc="-20" dirty="0" smtClean="0">
                <a:solidFill>
                  <a:srgbClr val="FFFFFF"/>
                </a:solidFill>
                <a:latin typeface="Poppins Light"/>
                <a:ea typeface="Poppins Light"/>
                <a:cs typeface="Poppins Light"/>
                <a:sym typeface="Poppins Light"/>
              </a:rPr>
              <a:t>-your family shouldn’t need a court order to find out what you left behind.</a:t>
            </a:r>
            <a:endParaRPr lang="en-US" sz="2083" spc="-20" dirty="0">
              <a:solidFill>
                <a:srgbClr val="FFFFFF"/>
              </a:solidFill>
              <a:latin typeface="Poppins Light"/>
              <a:ea typeface="Poppins Light"/>
              <a:cs typeface="Poppins Light"/>
              <a:sym typeface="Poppi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cstate="print"/>
            <a:stretch>
              <a:fillRect l="-60" r="-60"/>
            </a:stretch>
          </a:blipFill>
        </p:spPr>
      </p:sp>
      <p:grpSp>
        <p:nvGrpSpPr>
          <p:cNvPr id="2" name="Group 6"/>
          <p:cNvGrpSpPr/>
          <p:nvPr/>
        </p:nvGrpSpPr>
        <p:grpSpPr>
          <a:xfrm>
            <a:off x="0" y="-38100"/>
            <a:ext cx="18288001" cy="3657600"/>
            <a:chOff x="0" y="0"/>
            <a:chExt cx="4443772" cy="953844"/>
          </a:xfrm>
        </p:grpSpPr>
        <p:sp>
          <p:nvSpPr>
            <p:cNvPr id="3" name="Freeform 7"/>
            <p:cNvSpPr/>
            <p:nvPr/>
          </p:nvSpPr>
          <p:spPr>
            <a:xfrm>
              <a:off x="0" y="0"/>
              <a:ext cx="4443772" cy="953844"/>
            </a:xfrm>
            <a:custGeom>
              <a:avLst/>
              <a:gdLst/>
              <a:ahLst/>
              <a:cxnLst/>
              <a:rect l="l" t="t" r="r" b="b"/>
              <a:pathLst>
                <a:path w="4518508" h="953844">
                  <a:moveTo>
                    <a:pt x="18021" y="0"/>
                  </a:moveTo>
                  <a:lnTo>
                    <a:pt x="4500487" y="0"/>
                  </a:lnTo>
                  <a:cubicBezTo>
                    <a:pt x="4510439" y="0"/>
                    <a:pt x="4518508" y="8068"/>
                    <a:pt x="4518508" y="18021"/>
                  </a:cubicBezTo>
                  <a:lnTo>
                    <a:pt x="4518508" y="935824"/>
                  </a:lnTo>
                  <a:cubicBezTo>
                    <a:pt x="4518508" y="945776"/>
                    <a:pt x="4510439" y="953844"/>
                    <a:pt x="4500487" y="953844"/>
                  </a:cubicBezTo>
                  <a:lnTo>
                    <a:pt x="18021" y="953844"/>
                  </a:lnTo>
                  <a:cubicBezTo>
                    <a:pt x="8068" y="953844"/>
                    <a:pt x="0" y="945776"/>
                    <a:pt x="0" y="935824"/>
                  </a:cubicBezTo>
                  <a:lnTo>
                    <a:pt x="0" y="18021"/>
                  </a:lnTo>
                  <a:cubicBezTo>
                    <a:pt x="0" y="8068"/>
                    <a:pt x="8068" y="0"/>
                    <a:pt x="18021" y="0"/>
                  </a:cubicBezTo>
                  <a:close/>
                </a:path>
              </a:pathLst>
            </a:custGeom>
            <a:blipFill>
              <a:blip r:embed="rId3" cstate="print"/>
              <a:stretch>
                <a:fillRect t="-127858" b="-127858"/>
              </a:stretch>
            </a:blipFill>
            <a:ln cap="rnd">
              <a:noFill/>
              <a:prstDash val="solid"/>
              <a:round/>
            </a:ln>
          </p:spPr>
        </p:sp>
      </p:grpSp>
      <p:sp>
        <p:nvSpPr>
          <p:cNvPr id="5" name="Freeform 11"/>
          <p:cNvSpPr/>
          <p:nvPr/>
        </p:nvSpPr>
        <p:spPr>
          <a:xfrm>
            <a:off x="1828800" y="4076700"/>
            <a:ext cx="14173200" cy="5562599"/>
          </a:xfrm>
          <a:custGeom>
            <a:avLst/>
            <a:gdLst/>
            <a:ahLst/>
            <a:cxnLst/>
            <a:rect l="l" t="t" r="r" b="b"/>
            <a:pathLst>
              <a:path w="16230600" h="4426527">
                <a:moveTo>
                  <a:pt x="0" y="0"/>
                </a:moveTo>
                <a:lnTo>
                  <a:pt x="16230600" y="0"/>
                </a:lnTo>
                <a:lnTo>
                  <a:pt x="16230600" y="4426527"/>
                </a:lnTo>
                <a:lnTo>
                  <a:pt x="0" y="4426527"/>
                </a:lnTo>
                <a:lnTo>
                  <a:pt x="0" y="0"/>
                </a:lnTo>
                <a:close/>
              </a:path>
            </a:pathLst>
          </a:custGeom>
          <a:blipFill>
            <a:blip r:embed="rId4" cstate="print"/>
            <a:stretch>
              <a:fillRect/>
            </a:stretch>
          </a:blipFill>
        </p:spPr>
      </p:sp>
      <p:sp>
        <p:nvSpPr>
          <p:cNvPr id="6" name="TextBox 12"/>
          <p:cNvSpPr txBox="1"/>
          <p:nvPr/>
        </p:nvSpPr>
        <p:spPr>
          <a:xfrm>
            <a:off x="4343400" y="7886700"/>
            <a:ext cx="8305800" cy="1000274"/>
          </a:xfrm>
          <a:prstGeom prst="rect">
            <a:avLst/>
          </a:prstGeom>
        </p:spPr>
        <p:txBody>
          <a:bodyPr wrap="square" lIns="0" tIns="0" rIns="0" bIns="0" rtlCol="0" anchor="t">
            <a:spAutoFit/>
          </a:bodyPr>
          <a:lstStyle/>
          <a:p>
            <a:pPr algn="l">
              <a:lnSpc>
                <a:spcPts val="7790"/>
              </a:lnSpc>
            </a:pPr>
            <a:r>
              <a:rPr lang="en-US" sz="4800" b="1" spc="-65" dirty="0" smtClean="0">
                <a:solidFill>
                  <a:srgbClr val="FFFFFF"/>
                </a:solidFill>
                <a:latin typeface="Futura Bold"/>
                <a:ea typeface="Futura Bold"/>
                <a:cs typeface="Futura Bold"/>
                <a:sym typeface="Futura Bold"/>
              </a:rPr>
              <a:t>ANUSHRI YADAV</a:t>
            </a:r>
            <a:r>
              <a:rPr lang="en-US" sz="4800" b="1" spc="-65" dirty="0" smtClean="0">
                <a:solidFill>
                  <a:srgbClr val="FFFFFF"/>
                </a:solidFill>
                <a:latin typeface="Futura" charset="0"/>
                <a:ea typeface="Futura Bold"/>
                <a:cs typeface="Futura Bold"/>
                <a:sym typeface="Futura Bold"/>
              </a:rPr>
              <a:t> – </a:t>
            </a:r>
            <a:r>
              <a:rPr lang="en-US" sz="3200" b="1" spc="-65" dirty="0" smtClean="0">
                <a:solidFill>
                  <a:srgbClr val="FFFFFF"/>
                </a:solidFill>
                <a:latin typeface="Futura" charset="0"/>
                <a:ea typeface="Futura Bold"/>
                <a:cs typeface="Futura Bold"/>
                <a:sym typeface="Futura Bold"/>
              </a:rPr>
              <a:t>Presentation Lead </a:t>
            </a:r>
            <a:endParaRPr lang="en-US" sz="3200" b="1" spc="-65" dirty="0">
              <a:solidFill>
                <a:srgbClr val="FFFFFF"/>
              </a:solidFill>
              <a:latin typeface="Futura" charset="0"/>
              <a:ea typeface="Futura Bold"/>
              <a:cs typeface="Futura Bold"/>
              <a:sym typeface="Futura Bold"/>
            </a:endParaRPr>
          </a:p>
        </p:txBody>
      </p:sp>
      <p:sp>
        <p:nvSpPr>
          <p:cNvPr id="7" name="TextBox 12"/>
          <p:cNvSpPr txBox="1"/>
          <p:nvPr/>
        </p:nvSpPr>
        <p:spPr>
          <a:xfrm>
            <a:off x="4343400" y="5753100"/>
            <a:ext cx="9906000" cy="1000274"/>
          </a:xfrm>
          <a:prstGeom prst="rect">
            <a:avLst/>
          </a:prstGeom>
        </p:spPr>
        <p:txBody>
          <a:bodyPr wrap="square" lIns="0" tIns="0" rIns="0" bIns="0" rtlCol="0" anchor="t">
            <a:spAutoFit/>
          </a:bodyPr>
          <a:lstStyle/>
          <a:p>
            <a:pPr algn="l">
              <a:lnSpc>
                <a:spcPts val="7790"/>
              </a:lnSpc>
            </a:pPr>
            <a:r>
              <a:rPr lang="en-US" sz="4800" b="1" spc="-65" dirty="0" smtClean="0">
                <a:solidFill>
                  <a:srgbClr val="FFFFFF"/>
                </a:solidFill>
                <a:latin typeface="Futura Bold"/>
                <a:ea typeface="Futura Bold"/>
                <a:cs typeface="Futura Bold"/>
                <a:sym typeface="Futura Bold"/>
              </a:rPr>
              <a:t>PRIYANSHU KUMAR</a:t>
            </a:r>
            <a:r>
              <a:rPr lang="en-US" sz="4800" b="1" spc="-65" dirty="0" smtClean="0">
                <a:solidFill>
                  <a:srgbClr val="FFFFFF"/>
                </a:solidFill>
                <a:latin typeface="Futura" charset="0"/>
                <a:ea typeface="Futura Bold"/>
                <a:cs typeface="Futura Bold"/>
                <a:sym typeface="Futura Bold"/>
              </a:rPr>
              <a:t> – </a:t>
            </a:r>
            <a:r>
              <a:rPr lang="en-US" sz="3200" b="1" spc="-65" dirty="0" smtClean="0">
                <a:solidFill>
                  <a:srgbClr val="FFFFFF"/>
                </a:solidFill>
                <a:latin typeface="Futura" charset="0"/>
                <a:ea typeface="Futura Bold"/>
                <a:cs typeface="Futura Bold"/>
                <a:sym typeface="Futura Bold"/>
              </a:rPr>
              <a:t>Frontend developer</a:t>
            </a:r>
            <a:endParaRPr lang="en-US" sz="3200" b="1" spc="-65" dirty="0">
              <a:solidFill>
                <a:srgbClr val="FFFFFF"/>
              </a:solidFill>
              <a:latin typeface="Futura" charset="0"/>
              <a:ea typeface="Futura Bold"/>
              <a:cs typeface="Futura Bold"/>
              <a:sym typeface="Futura Bold"/>
            </a:endParaRPr>
          </a:p>
        </p:txBody>
      </p:sp>
      <p:sp>
        <p:nvSpPr>
          <p:cNvPr id="9" name="TextBox 12"/>
          <p:cNvSpPr txBox="1"/>
          <p:nvPr/>
        </p:nvSpPr>
        <p:spPr>
          <a:xfrm>
            <a:off x="4343400" y="6810226"/>
            <a:ext cx="8305800" cy="1000274"/>
          </a:xfrm>
          <a:prstGeom prst="rect">
            <a:avLst/>
          </a:prstGeom>
        </p:spPr>
        <p:txBody>
          <a:bodyPr wrap="square" lIns="0" tIns="0" rIns="0" bIns="0" rtlCol="0" anchor="t">
            <a:spAutoFit/>
          </a:bodyPr>
          <a:lstStyle/>
          <a:p>
            <a:pPr algn="l">
              <a:lnSpc>
                <a:spcPts val="7790"/>
              </a:lnSpc>
            </a:pPr>
            <a:r>
              <a:rPr lang="en-US" sz="4800" b="1" spc="-65" dirty="0" smtClean="0">
                <a:solidFill>
                  <a:srgbClr val="FFFFFF"/>
                </a:solidFill>
                <a:latin typeface="Futura Bold"/>
                <a:ea typeface="Futura Bold"/>
                <a:cs typeface="Futura Bold"/>
                <a:sym typeface="Futura Bold"/>
              </a:rPr>
              <a:t>NISCHAL</a:t>
            </a:r>
            <a:r>
              <a:rPr lang="en-US" sz="4800" b="1" spc="-65" dirty="0" smtClean="0">
                <a:solidFill>
                  <a:srgbClr val="FFFFFF"/>
                </a:solidFill>
                <a:latin typeface="Futura" charset="0"/>
                <a:ea typeface="Futura Bold"/>
                <a:cs typeface="Futura Bold"/>
                <a:sym typeface="Futura Bold"/>
              </a:rPr>
              <a:t> – </a:t>
            </a:r>
            <a:r>
              <a:rPr lang="en-US" sz="3200" b="1" spc="-65" dirty="0" smtClean="0">
                <a:solidFill>
                  <a:srgbClr val="FFFFFF"/>
                </a:solidFill>
                <a:latin typeface="Futura" charset="0"/>
                <a:ea typeface="Futura Bold"/>
                <a:cs typeface="Futura Bold"/>
                <a:sym typeface="Futura Bold"/>
              </a:rPr>
              <a:t>Research lead </a:t>
            </a:r>
            <a:r>
              <a:rPr lang="en-US" sz="3200" b="1" spc="-65" dirty="0" smtClean="0">
                <a:solidFill>
                  <a:srgbClr val="FFFFFF"/>
                </a:solidFill>
                <a:latin typeface="Futura" charset="0"/>
                <a:ea typeface="Futura Bold"/>
                <a:cs typeface="Futura Bold"/>
                <a:sym typeface="Futura Bold"/>
              </a:rPr>
              <a:t> </a:t>
            </a:r>
            <a:endParaRPr lang="en-US" sz="3200" b="1" spc="-65" dirty="0">
              <a:solidFill>
                <a:srgbClr val="FFFFFF"/>
              </a:solidFill>
              <a:latin typeface="Futura" charset="0"/>
              <a:ea typeface="Futura Bold"/>
              <a:cs typeface="Futura Bold"/>
              <a:sym typeface="Futura Bold"/>
            </a:endParaRPr>
          </a:p>
        </p:txBody>
      </p:sp>
      <p:sp>
        <p:nvSpPr>
          <p:cNvPr id="10" name="TextBox 12"/>
          <p:cNvSpPr txBox="1"/>
          <p:nvPr/>
        </p:nvSpPr>
        <p:spPr>
          <a:xfrm>
            <a:off x="4343400" y="4666573"/>
            <a:ext cx="8305800" cy="857927"/>
          </a:xfrm>
          <a:prstGeom prst="rect">
            <a:avLst/>
          </a:prstGeom>
        </p:spPr>
        <p:txBody>
          <a:bodyPr wrap="square" lIns="0" tIns="0" rIns="0" bIns="0" rtlCol="0" anchor="t">
            <a:spAutoFit/>
          </a:bodyPr>
          <a:lstStyle/>
          <a:p>
            <a:pPr algn="l">
              <a:lnSpc>
                <a:spcPts val="7790"/>
              </a:lnSpc>
            </a:pPr>
            <a:r>
              <a:rPr lang="en-US" sz="4800" b="1" spc="-65" dirty="0" smtClean="0">
                <a:solidFill>
                  <a:srgbClr val="FFFFFF"/>
                </a:solidFill>
                <a:latin typeface="Futura Bold"/>
                <a:ea typeface="Futura Bold"/>
                <a:cs typeface="Futura Bold"/>
                <a:sym typeface="Futura Bold"/>
              </a:rPr>
              <a:t>ROHIT</a:t>
            </a:r>
            <a:r>
              <a:rPr lang="en-US" sz="4800" b="1" spc="-65" dirty="0" smtClean="0">
                <a:solidFill>
                  <a:srgbClr val="FFFFFF"/>
                </a:solidFill>
                <a:latin typeface="Futura" charset="0"/>
                <a:ea typeface="Futura Bold"/>
                <a:cs typeface="Futura Bold"/>
                <a:sym typeface="Futura Bold"/>
              </a:rPr>
              <a:t> – </a:t>
            </a:r>
            <a:r>
              <a:rPr lang="en-US" sz="3200" b="1" spc="-65" dirty="0" smtClean="0">
                <a:solidFill>
                  <a:srgbClr val="FFFFFF"/>
                </a:solidFill>
                <a:latin typeface="Futura" charset="0"/>
                <a:ea typeface="Futura Bold"/>
                <a:cs typeface="Futura Bold"/>
                <a:sym typeface="Futura Bold"/>
              </a:rPr>
              <a:t>Leader, Backend Developer </a:t>
            </a:r>
            <a:endParaRPr lang="en-US" sz="3200" b="1" spc="-65" dirty="0">
              <a:solidFill>
                <a:srgbClr val="FFFFFF"/>
              </a:solidFill>
              <a:latin typeface="Futura" charset="0"/>
              <a:ea typeface="Futura Bold"/>
              <a:cs typeface="Futura Bold"/>
              <a:sym typeface="Futura Bold"/>
            </a:endParaRPr>
          </a:p>
        </p:txBody>
      </p:sp>
      <p:grpSp>
        <p:nvGrpSpPr>
          <p:cNvPr id="11" name="Group 5"/>
          <p:cNvGrpSpPr/>
          <p:nvPr/>
        </p:nvGrpSpPr>
        <p:grpSpPr>
          <a:xfrm>
            <a:off x="687821" y="869261"/>
            <a:ext cx="16912358" cy="934853"/>
            <a:chOff x="0" y="0"/>
            <a:chExt cx="4274726" cy="236291"/>
          </a:xfrm>
        </p:grpSpPr>
        <p:sp>
          <p:nvSpPr>
            <p:cNvPr id="12" name="Freeform 6"/>
            <p:cNvSpPr/>
            <p:nvPr/>
          </p:nvSpPr>
          <p:spPr>
            <a:xfrm>
              <a:off x="0" y="0"/>
              <a:ext cx="4274726" cy="236291"/>
            </a:xfrm>
            <a:custGeom>
              <a:avLst/>
              <a:gdLst/>
              <a:ahLst/>
              <a:cxnLst/>
              <a:rect l="l" t="t" r="r" b="b"/>
              <a:pathLst>
                <a:path w="4274726" h="236291">
                  <a:moveTo>
                    <a:pt x="45777" y="0"/>
                  </a:moveTo>
                  <a:lnTo>
                    <a:pt x="4228949" y="0"/>
                  </a:lnTo>
                  <a:cubicBezTo>
                    <a:pt x="4254231" y="0"/>
                    <a:pt x="4274726" y="20495"/>
                    <a:pt x="4274726" y="45777"/>
                  </a:cubicBezTo>
                  <a:lnTo>
                    <a:pt x="4274726" y="190514"/>
                  </a:lnTo>
                  <a:cubicBezTo>
                    <a:pt x="4274726" y="215796"/>
                    <a:pt x="4254231" y="236291"/>
                    <a:pt x="4228949" y="236291"/>
                  </a:cubicBezTo>
                  <a:lnTo>
                    <a:pt x="45777" y="236291"/>
                  </a:lnTo>
                  <a:cubicBezTo>
                    <a:pt x="20495" y="236291"/>
                    <a:pt x="0" y="215796"/>
                    <a:pt x="0" y="190514"/>
                  </a:cubicBezTo>
                  <a:lnTo>
                    <a:pt x="0" y="45777"/>
                  </a:lnTo>
                  <a:cubicBezTo>
                    <a:pt x="0" y="20495"/>
                    <a:pt x="20495" y="0"/>
                    <a:pt x="45777" y="0"/>
                  </a:cubicBezTo>
                  <a:close/>
                </a:path>
              </a:pathLst>
            </a:custGeom>
            <a:gradFill rotWithShape="1">
              <a:gsLst>
                <a:gs pos="0">
                  <a:srgbClr val="6E001E">
                    <a:alpha val="66000"/>
                  </a:srgbClr>
                </a:gs>
                <a:gs pos="50000">
                  <a:srgbClr val="65204C">
                    <a:alpha val="66000"/>
                  </a:srgbClr>
                </a:gs>
                <a:gs pos="100000">
                  <a:srgbClr val="69465D">
                    <a:alpha val="66000"/>
                  </a:srgbClr>
                </a:gs>
              </a:gsLst>
              <a:lin ang="2700000"/>
            </a:gradFill>
            <a:ln w="19050" cap="rnd">
              <a:solidFill>
                <a:srgbClr val="FFFFFF">
                  <a:alpha val="65882"/>
                </a:srgbClr>
              </a:solidFill>
              <a:prstDash val="solid"/>
              <a:round/>
            </a:ln>
          </p:spPr>
        </p:sp>
        <p:sp>
          <p:nvSpPr>
            <p:cNvPr id="13" name="TextBox 7"/>
            <p:cNvSpPr txBox="1"/>
            <p:nvPr/>
          </p:nvSpPr>
          <p:spPr>
            <a:xfrm>
              <a:off x="0" y="-57150"/>
              <a:ext cx="4274726" cy="293441"/>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1"/>
          <p:cNvSpPr txBox="1"/>
          <p:nvPr/>
        </p:nvSpPr>
        <p:spPr>
          <a:xfrm>
            <a:off x="1100048" y="1192391"/>
            <a:ext cx="5453152" cy="282129"/>
          </a:xfrm>
          <a:prstGeom prst="rect">
            <a:avLst/>
          </a:prstGeom>
        </p:spPr>
        <p:txBody>
          <a:bodyPr wrap="square" lIns="0" tIns="0" rIns="0" bIns="0" rtlCol="0" anchor="t">
            <a:spAutoFit/>
          </a:bodyPr>
          <a:lstStyle/>
          <a:p>
            <a:pPr marL="449935" lvl="1" indent="-224967" algn="l">
              <a:lnSpc>
                <a:spcPts val="2188"/>
              </a:lnSpc>
              <a:buFont typeface="Arial"/>
              <a:buChar char="•"/>
            </a:pPr>
            <a:r>
              <a:rPr lang="en-US" sz="2083" spc="-20" dirty="0" smtClean="0">
                <a:solidFill>
                  <a:srgbClr val="FFFFFF"/>
                </a:solidFill>
                <a:latin typeface="Poppins Light"/>
                <a:ea typeface="Poppins Light"/>
                <a:cs typeface="Poppins Light"/>
                <a:sym typeface="Poppins Light"/>
              </a:rPr>
              <a:t>ALL INDIA AGENTIC HACKATHON 2026</a:t>
            </a:r>
            <a:endParaRPr lang="en-US" sz="2083" spc="-20" dirty="0">
              <a:solidFill>
                <a:srgbClr val="FFFFFF"/>
              </a:solidFill>
              <a:latin typeface="Poppins Light"/>
              <a:ea typeface="Poppins Light"/>
              <a:cs typeface="Poppins Light"/>
              <a:sym typeface="Poppins Light"/>
            </a:endParaRPr>
          </a:p>
        </p:txBody>
      </p:sp>
      <p:sp>
        <p:nvSpPr>
          <p:cNvPr id="15" name="TextBox 13"/>
          <p:cNvSpPr txBox="1"/>
          <p:nvPr/>
        </p:nvSpPr>
        <p:spPr>
          <a:xfrm>
            <a:off x="14630400" y="1192390"/>
            <a:ext cx="2248485" cy="282129"/>
          </a:xfrm>
          <a:prstGeom prst="rect">
            <a:avLst/>
          </a:prstGeom>
        </p:spPr>
        <p:txBody>
          <a:bodyPr wrap="square" lIns="0" tIns="0" rIns="0" bIns="0" rtlCol="0" anchor="t">
            <a:spAutoFit/>
          </a:bodyPr>
          <a:lstStyle/>
          <a:p>
            <a:pPr algn="r">
              <a:lnSpc>
                <a:spcPts val="2188"/>
              </a:lnSpc>
            </a:pPr>
            <a:r>
              <a:rPr lang="en-US" sz="2083" spc="-20" dirty="0" smtClean="0">
                <a:solidFill>
                  <a:srgbClr val="FFFFFF"/>
                </a:solidFill>
                <a:latin typeface="Poppins Light"/>
                <a:ea typeface="Poppins Light"/>
                <a:cs typeface="Poppins Light"/>
                <a:sym typeface="Poppins Light"/>
              </a:rPr>
              <a:t>GOOGLE CLOUD</a:t>
            </a:r>
            <a:endParaRPr lang="en-US" sz="2083" spc="-20" dirty="0">
              <a:solidFill>
                <a:srgbClr val="FFFFFF"/>
              </a:solidFill>
              <a:latin typeface="Poppins Light"/>
              <a:ea typeface="Poppins Light"/>
              <a:cs typeface="Poppins Light"/>
              <a:sym typeface="Poppi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68002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rot="-10800000">
            <a:off x="838200" y="0"/>
            <a:ext cx="16892024" cy="4398074"/>
            <a:chOff x="0" y="0"/>
            <a:chExt cx="647700" cy="330200"/>
          </a:xfrm>
        </p:grpSpPr>
        <p:sp>
          <p:nvSpPr>
            <p:cNvPr id="3" name="Freeform 3"/>
            <p:cNvSpPr/>
            <p:nvPr/>
          </p:nvSpPr>
          <p:spPr>
            <a:xfrm>
              <a:off x="0" y="0"/>
              <a:ext cx="647700" cy="330200"/>
            </a:xfrm>
            <a:custGeom>
              <a:avLst/>
              <a:gdLst/>
              <a:ahLst/>
              <a:cxnLst/>
              <a:rect l="l" t="t" r="r" b="b"/>
              <a:pathLst>
                <a:path w="647700" h="330200">
                  <a:moveTo>
                    <a:pt x="647700" y="330200"/>
                  </a:moveTo>
                  <a:cubicBezTo>
                    <a:pt x="647700" y="150345"/>
                    <a:pt x="500247" y="0"/>
                    <a:pt x="323850" y="0"/>
                  </a:cubicBezTo>
                  <a:cubicBezTo>
                    <a:pt x="147453" y="0"/>
                    <a:pt x="0" y="150345"/>
                    <a:pt x="0" y="330200"/>
                  </a:cubicBezTo>
                  <a:lnTo>
                    <a:pt x="647700" y="330200"/>
                  </a:lnTo>
                  <a:close/>
                </a:path>
              </a:pathLst>
            </a:custGeom>
            <a:gradFill rotWithShape="1">
              <a:gsLst>
                <a:gs pos="0">
                  <a:srgbClr val="6E001E">
                    <a:alpha val="100000"/>
                  </a:srgbClr>
                </a:gs>
                <a:gs pos="50000">
                  <a:srgbClr val="3C102C">
                    <a:alpha val="100000"/>
                  </a:srgbClr>
                </a:gs>
                <a:gs pos="100000">
                  <a:srgbClr val="69465D">
                    <a:alpha val="100000"/>
                  </a:srgbClr>
                </a:gs>
              </a:gsLst>
              <a:lin ang="2700000"/>
            </a:gradFill>
          </p:spPr>
        </p:sp>
        <p:sp>
          <p:nvSpPr>
            <p:cNvPr id="4" name="TextBox 4"/>
            <p:cNvSpPr txBox="1"/>
            <p:nvPr/>
          </p:nvSpPr>
          <p:spPr>
            <a:xfrm>
              <a:off x="152400" y="69850"/>
              <a:ext cx="342900" cy="260350"/>
            </a:xfrm>
            <a:prstGeom prst="rect">
              <a:avLst/>
            </a:prstGeom>
          </p:spPr>
          <p:txBody>
            <a:bodyPr lIns="50800" tIns="50800" rIns="50800" bIns="50800" rtlCol="0" anchor="ctr"/>
            <a:lstStyle/>
            <a:p>
              <a:pPr algn="ctr">
                <a:lnSpc>
                  <a:spcPts val="1543"/>
                </a:lnSpc>
              </a:pPr>
              <a:endParaRPr/>
            </a:p>
          </p:txBody>
        </p:sp>
      </p:grpSp>
      <p:grpSp>
        <p:nvGrpSpPr>
          <p:cNvPr id="5" name="Group 5"/>
          <p:cNvGrpSpPr/>
          <p:nvPr/>
        </p:nvGrpSpPr>
        <p:grpSpPr>
          <a:xfrm>
            <a:off x="786376" y="5888927"/>
            <a:ext cx="16715249" cy="4398074"/>
            <a:chOff x="0" y="0"/>
            <a:chExt cx="647700" cy="330200"/>
          </a:xfrm>
        </p:grpSpPr>
        <p:sp>
          <p:nvSpPr>
            <p:cNvPr id="6" name="Freeform 6"/>
            <p:cNvSpPr/>
            <p:nvPr/>
          </p:nvSpPr>
          <p:spPr>
            <a:xfrm>
              <a:off x="0" y="0"/>
              <a:ext cx="647700" cy="330200"/>
            </a:xfrm>
            <a:custGeom>
              <a:avLst/>
              <a:gdLst/>
              <a:ahLst/>
              <a:cxnLst/>
              <a:rect l="l" t="t" r="r" b="b"/>
              <a:pathLst>
                <a:path w="647700" h="330200">
                  <a:moveTo>
                    <a:pt x="647700" y="330200"/>
                  </a:moveTo>
                  <a:cubicBezTo>
                    <a:pt x="647700" y="150345"/>
                    <a:pt x="500247" y="0"/>
                    <a:pt x="323850" y="0"/>
                  </a:cubicBezTo>
                  <a:cubicBezTo>
                    <a:pt x="147453" y="0"/>
                    <a:pt x="0" y="150345"/>
                    <a:pt x="0" y="330200"/>
                  </a:cubicBezTo>
                  <a:lnTo>
                    <a:pt x="647700" y="330200"/>
                  </a:lnTo>
                  <a:close/>
                </a:path>
              </a:pathLst>
            </a:custGeom>
            <a:gradFill rotWithShape="1">
              <a:gsLst>
                <a:gs pos="0">
                  <a:srgbClr val="6E001E">
                    <a:alpha val="100000"/>
                  </a:srgbClr>
                </a:gs>
                <a:gs pos="50000">
                  <a:srgbClr val="69465D">
                    <a:alpha val="100000"/>
                  </a:srgbClr>
                </a:gs>
                <a:gs pos="100000">
                  <a:srgbClr val="3C102C">
                    <a:alpha val="100000"/>
                  </a:srgbClr>
                </a:gs>
              </a:gsLst>
              <a:lin ang="2700000"/>
            </a:gradFill>
          </p:spPr>
        </p:sp>
        <p:sp>
          <p:nvSpPr>
            <p:cNvPr id="7" name="TextBox 7"/>
            <p:cNvSpPr txBox="1"/>
            <p:nvPr/>
          </p:nvSpPr>
          <p:spPr>
            <a:xfrm>
              <a:off x="152400" y="69850"/>
              <a:ext cx="342900" cy="260350"/>
            </a:xfrm>
            <a:prstGeom prst="rect">
              <a:avLst/>
            </a:prstGeom>
          </p:spPr>
          <p:txBody>
            <a:bodyPr lIns="50800" tIns="50800" rIns="50800" bIns="50800" rtlCol="0" anchor="ctr"/>
            <a:lstStyle/>
            <a:p>
              <a:pPr algn="ctr">
                <a:lnSpc>
                  <a:spcPts val="1543"/>
                </a:lnSpc>
              </a:pPr>
              <a:endParaRPr/>
            </a:p>
          </p:txBody>
        </p:sp>
      </p:grpSp>
      <p:grpSp>
        <p:nvGrpSpPr>
          <p:cNvPr id="8" name="Group 8"/>
          <p:cNvGrpSpPr/>
          <p:nvPr/>
        </p:nvGrpSpPr>
        <p:grpSpPr>
          <a:xfrm>
            <a:off x="914399" y="824834"/>
            <a:ext cx="16344901" cy="1114160"/>
            <a:chOff x="-30104" y="-57150"/>
            <a:chExt cx="4304830" cy="293441"/>
          </a:xfrm>
        </p:grpSpPr>
        <p:sp>
          <p:nvSpPr>
            <p:cNvPr id="9" name="Freeform 9"/>
            <p:cNvSpPr/>
            <p:nvPr/>
          </p:nvSpPr>
          <p:spPr>
            <a:xfrm>
              <a:off x="-30104" y="-3457"/>
              <a:ext cx="4274726" cy="236291"/>
            </a:xfrm>
            <a:custGeom>
              <a:avLst/>
              <a:gdLst/>
              <a:ahLst/>
              <a:cxnLst/>
              <a:rect l="l" t="t" r="r" b="b"/>
              <a:pathLst>
                <a:path w="4274726" h="236291">
                  <a:moveTo>
                    <a:pt x="47700" y="0"/>
                  </a:moveTo>
                  <a:lnTo>
                    <a:pt x="4227026" y="0"/>
                  </a:lnTo>
                  <a:cubicBezTo>
                    <a:pt x="4239677" y="0"/>
                    <a:pt x="4251809" y="5025"/>
                    <a:pt x="4260755" y="13971"/>
                  </a:cubicBezTo>
                  <a:cubicBezTo>
                    <a:pt x="4269700" y="22916"/>
                    <a:pt x="4274726" y="35049"/>
                    <a:pt x="4274726" y="47700"/>
                  </a:cubicBezTo>
                  <a:lnTo>
                    <a:pt x="4274726" y="188592"/>
                  </a:lnTo>
                  <a:cubicBezTo>
                    <a:pt x="4274726" y="201242"/>
                    <a:pt x="4269700" y="213375"/>
                    <a:pt x="4260755" y="222320"/>
                  </a:cubicBezTo>
                  <a:cubicBezTo>
                    <a:pt x="4251809" y="231266"/>
                    <a:pt x="4239677" y="236291"/>
                    <a:pt x="4227026" y="236291"/>
                  </a:cubicBezTo>
                  <a:lnTo>
                    <a:pt x="47700" y="236291"/>
                  </a:lnTo>
                  <a:cubicBezTo>
                    <a:pt x="35049" y="236291"/>
                    <a:pt x="22916" y="231266"/>
                    <a:pt x="13971" y="222320"/>
                  </a:cubicBezTo>
                  <a:cubicBezTo>
                    <a:pt x="5025" y="213375"/>
                    <a:pt x="0" y="201242"/>
                    <a:pt x="0" y="188592"/>
                  </a:cubicBezTo>
                  <a:lnTo>
                    <a:pt x="0" y="47700"/>
                  </a:lnTo>
                  <a:cubicBezTo>
                    <a:pt x="0" y="35049"/>
                    <a:pt x="5025" y="22916"/>
                    <a:pt x="13971" y="13971"/>
                  </a:cubicBezTo>
                  <a:cubicBezTo>
                    <a:pt x="22916" y="5025"/>
                    <a:pt x="35049" y="0"/>
                    <a:pt x="47700" y="0"/>
                  </a:cubicBezTo>
                  <a:close/>
                </a:path>
              </a:pathLst>
            </a:custGeom>
            <a:gradFill rotWithShape="1">
              <a:gsLst>
                <a:gs pos="0">
                  <a:srgbClr val="6E001E">
                    <a:alpha val="66000"/>
                  </a:srgbClr>
                </a:gs>
                <a:gs pos="50000">
                  <a:srgbClr val="65204C">
                    <a:alpha val="66000"/>
                  </a:srgbClr>
                </a:gs>
                <a:gs pos="100000">
                  <a:srgbClr val="69465D">
                    <a:alpha val="66000"/>
                  </a:srgbClr>
                </a:gs>
              </a:gsLst>
              <a:lin ang="2700000"/>
            </a:gradFill>
            <a:ln w="19050" cap="rnd">
              <a:solidFill>
                <a:srgbClr val="FFFFFF">
                  <a:alpha val="65882"/>
                </a:srgbClr>
              </a:solidFill>
              <a:prstDash val="solid"/>
              <a:round/>
            </a:ln>
          </p:spPr>
        </p:sp>
        <p:sp>
          <p:nvSpPr>
            <p:cNvPr id="10" name="TextBox 10"/>
            <p:cNvSpPr txBox="1"/>
            <p:nvPr/>
          </p:nvSpPr>
          <p:spPr>
            <a:xfrm>
              <a:off x="0" y="-57150"/>
              <a:ext cx="4274726" cy="293441"/>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066800" y="4838700"/>
            <a:ext cx="16230600" cy="4426527"/>
          </a:xfrm>
          <a:custGeom>
            <a:avLst/>
            <a:gdLst/>
            <a:ahLst/>
            <a:cxnLst/>
            <a:rect l="l" t="t" r="r" b="b"/>
            <a:pathLst>
              <a:path w="16230600" h="4426527">
                <a:moveTo>
                  <a:pt x="0" y="0"/>
                </a:moveTo>
                <a:lnTo>
                  <a:pt x="16230600" y="0"/>
                </a:lnTo>
                <a:lnTo>
                  <a:pt x="16230600" y="4426527"/>
                </a:lnTo>
                <a:lnTo>
                  <a:pt x="0" y="4426527"/>
                </a:lnTo>
                <a:lnTo>
                  <a:pt x="0" y="0"/>
                </a:lnTo>
                <a:close/>
              </a:path>
            </a:pathLst>
          </a:custGeom>
          <a:blipFill>
            <a:blip r:embed="rId2" cstate="print"/>
            <a:stretch>
              <a:fillRect/>
            </a:stretch>
          </a:blipFill>
        </p:spPr>
      </p:sp>
      <p:sp>
        <p:nvSpPr>
          <p:cNvPr id="12" name="TextBox 12"/>
          <p:cNvSpPr txBox="1"/>
          <p:nvPr/>
        </p:nvSpPr>
        <p:spPr>
          <a:xfrm>
            <a:off x="1981200" y="5453373"/>
            <a:ext cx="6796916" cy="1000274"/>
          </a:xfrm>
          <a:prstGeom prst="rect">
            <a:avLst/>
          </a:prstGeom>
        </p:spPr>
        <p:txBody>
          <a:bodyPr lIns="0" tIns="0" rIns="0" bIns="0" rtlCol="0" anchor="t">
            <a:spAutoFit/>
          </a:bodyPr>
          <a:lstStyle/>
          <a:p>
            <a:pPr algn="l">
              <a:lnSpc>
                <a:spcPts val="7790"/>
              </a:lnSpc>
            </a:pPr>
            <a:r>
              <a:rPr lang="en-US" sz="6546" b="1" spc="-65" dirty="0" smtClean="0">
                <a:solidFill>
                  <a:srgbClr val="FFFFFF"/>
                </a:solidFill>
                <a:latin typeface="Futura Bold"/>
                <a:ea typeface="Futura Bold"/>
                <a:cs typeface="Futura Bold"/>
                <a:sym typeface="Futura Bold"/>
              </a:rPr>
              <a:t>	THE PROBLEM</a:t>
            </a:r>
            <a:endParaRPr lang="en-US" sz="6546" b="1" spc="-65" dirty="0">
              <a:solidFill>
                <a:srgbClr val="FFFFFF"/>
              </a:solidFill>
              <a:latin typeface="Futura Bold"/>
              <a:ea typeface="Futura Bold"/>
              <a:cs typeface="Futura Bold"/>
              <a:sym typeface="Futura Bold"/>
            </a:endParaRPr>
          </a:p>
        </p:txBody>
      </p:sp>
      <p:sp>
        <p:nvSpPr>
          <p:cNvPr id="13" name="TextBox 13"/>
          <p:cNvSpPr txBox="1"/>
          <p:nvPr/>
        </p:nvSpPr>
        <p:spPr>
          <a:xfrm>
            <a:off x="8839200" y="7694874"/>
            <a:ext cx="7467600" cy="1030026"/>
          </a:xfrm>
          <a:prstGeom prst="rect">
            <a:avLst/>
          </a:prstGeom>
        </p:spPr>
        <p:txBody>
          <a:bodyPr wrap="square" lIns="0" tIns="0" rIns="0" bIns="0" rtlCol="0" anchor="t">
            <a:spAutoFit/>
          </a:bodyPr>
          <a:lstStyle/>
          <a:p>
            <a:pPr>
              <a:lnSpc>
                <a:spcPts val="1984"/>
              </a:lnSpc>
            </a:pPr>
            <a:r>
              <a:rPr lang="en-US" sz="1900" b="1" spc="-18" dirty="0" smtClean="0">
                <a:solidFill>
                  <a:srgbClr val="FFFFFF"/>
                </a:solidFill>
                <a:latin typeface="Poppins Light"/>
                <a:ea typeface="Poppins Light"/>
                <a:cs typeface="Poppins Light"/>
                <a:sym typeface="Poppins Light"/>
              </a:rPr>
              <a:t>People have financial and digital assets </a:t>
            </a:r>
            <a:r>
              <a:rPr lang="en-US" sz="1900" b="1" spc="-18" dirty="0" smtClean="0">
                <a:solidFill>
                  <a:srgbClr val="FFFFFF"/>
                </a:solidFill>
                <a:latin typeface="Poppins Light"/>
                <a:ea typeface="Poppins Light"/>
                <a:cs typeface="Poppins Light"/>
                <a:sym typeface="Poppins Light"/>
              </a:rPr>
              <a:t>distributed </a:t>
            </a:r>
            <a:r>
              <a:rPr lang="en-US" sz="1900" b="1" spc="-18" dirty="0" smtClean="0">
                <a:solidFill>
                  <a:srgbClr val="FFFFFF"/>
                </a:solidFill>
                <a:latin typeface="Poppins Light"/>
                <a:ea typeface="Poppins Light"/>
                <a:cs typeface="Poppins Light"/>
                <a:sym typeface="Poppins Light"/>
              </a:rPr>
              <a:t>across many services, but </a:t>
            </a:r>
            <a:r>
              <a:rPr lang="en-US" sz="1900" b="1" spc="-18" dirty="0" smtClean="0">
                <a:solidFill>
                  <a:srgbClr val="FFFFFF"/>
                </a:solidFill>
                <a:latin typeface="Poppins Light"/>
                <a:ea typeface="Poppins Light"/>
                <a:cs typeface="Poppins Light"/>
                <a:sym typeface="Poppins Light"/>
              </a:rPr>
              <a:t>their families </a:t>
            </a:r>
            <a:r>
              <a:rPr lang="en-US" sz="1900" b="1" spc="-18" dirty="0" smtClean="0">
                <a:solidFill>
                  <a:srgbClr val="FFFFFF"/>
                </a:solidFill>
                <a:latin typeface="Poppins Light"/>
                <a:ea typeface="Poppins Light"/>
                <a:cs typeface="Poppins Light"/>
                <a:sym typeface="Poppins Light"/>
              </a:rPr>
              <a:t>lack a secure, trusted, </a:t>
            </a:r>
            <a:r>
              <a:rPr lang="en-US" sz="1900" b="1" spc="-18" dirty="0" smtClean="0">
                <a:solidFill>
                  <a:srgbClr val="FFFFFF"/>
                </a:solidFill>
                <a:latin typeface="Poppins Light"/>
                <a:ea typeface="Poppins Light"/>
                <a:cs typeface="Poppins Light"/>
                <a:sym typeface="Poppins Light"/>
              </a:rPr>
              <a:t>and organized </a:t>
            </a:r>
            <a:r>
              <a:rPr lang="en-US" sz="1900" b="1" spc="-18" dirty="0" smtClean="0">
                <a:solidFill>
                  <a:srgbClr val="FFFFFF"/>
                </a:solidFill>
                <a:latin typeface="Poppins Light"/>
                <a:ea typeface="Poppins Light"/>
                <a:cs typeface="Poppins Light"/>
                <a:sym typeface="Poppins Light"/>
              </a:rPr>
              <a:t>way to discover those </a:t>
            </a:r>
            <a:r>
              <a:rPr lang="en-US" sz="1900" b="1" spc="-18" dirty="0" smtClean="0">
                <a:solidFill>
                  <a:srgbClr val="FFFFFF"/>
                </a:solidFill>
                <a:latin typeface="Poppins Light"/>
                <a:ea typeface="Poppins Light"/>
                <a:cs typeface="Poppins Light"/>
                <a:sym typeface="Poppins Light"/>
              </a:rPr>
              <a:t>assets and </a:t>
            </a:r>
            <a:r>
              <a:rPr lang="en-US" sz="1900" b="1" spc="-18" dirty="0" smtClean="0">
                <a:solidFill>
                  <a:srgbClr val="FFFFFF"/>
                </a:solidFill>
                <a:latin typeface="Poppins Light"/>
                <a:ea typeface="Poppins Light"/>
                <a:cs typeface="Poppins Light"/>
                <a:sym typeface="Poppins Light"/>
              </a:rPr>
              <a:t>follow the </a:t>
            </a:r>
            <a:r>
              <a:rPr lang="en-US" sz="1900" b="1" spc="-18" dirty="0" smtClean="0">
                <a:solidFill>
                  <a:srgbClr val="FFFFFF"/>
                </a:solidFill>
                <a:latin typeface="Poppins Light"/>
                <a:ea typeface="Poppins Light"/>
                <a:cs typeface="Poppins Light"/>
                <a:sym typeface="Poppins Light"/>
              </a:rPr>
              <a:t>correct next </a:t>
            </a:r>
            <a:r>
              <a:rPr lang="en-US" sz="1900" b="1" spc="-18" dirty="0" smtClean="0">
                <a:solidFill>
                  <a:srgbClr val="FFFFFF"/>
                </a:solidFill>
                <a:latin typeface="Poppins Light"/>
                <a:ea typeface="Poppins Light"/>
                <a:cs typeface="Poppins Light"/>
                <a:sym typeface="Poppins Light"/>
              </a:rPr>
              <a:t>steps </a:t>
            </a:r>
            <a:r>
              <a:rPr lang="en-US" sz="1900" b="1" spc="-18" dirty="0" smtClean="0">
                <a:solidFill>
                  <a:srgbClr val="FFFFFF"/>
                </a:solidFill>
                <a:latin typeface="Poppins Light"/>
                <a:ea typeface="Poppins Light"/>
                <a:cs typeface="Poppins Light"/>
                <a:sym typeface="Poppins Light"/>
              </a:rPr>
              <a:t>when the </a:t>
            </a:r>
            <a:r>
              <a:rPr lang="en-US" sz="1900" b="1" spc="-18" dirty="0" smtClean="0">
                <a:solidFill>
                  <a:srgbClr val="FFFFFF"/>
                </a:solidFill>
                <a:latin typeface="Poppins Light"/>
                <a:ea typeface="Poppins Light"/>
                <a:cs typeface="Poppins Light"/>
                <a:sym typeface="Poppins Light"/>
              </a:rPr>
              <a:t>person is unavailable.</a:t>
            </a:r>
            <a:endParaRPr lang="en-US" sz="1900" b="1" spc="-18" dirty="0">
              <a:solidFill>
                <a:srgbClr val="FFFFFF"/>
              </a:solidFill>
              <a:latin typeface="Poppins Light"/>
              <a:ea typeface="Poppins Light"/>
              <a:cs typeface="Poppins Light"/>
              <a:sym typeface="Poppins Light"/>
            </a:endParaRPr>
          </a:p>
        </p:txBody>
      </p:sp>
      <p:sp>
        <p:nvSpPr>
          <p:cNvPr id="14" name="TextBox 14"/>
          <p:cNvSpPr txBox="1"/>
          <p:nvPr/>
        </p:nvSpPr>
        <p:spPr>
          <a:xfrm>
            <a:off x="8839200" y="5662218"/>
            <a:ext cx="7365353" cy="538609"/>
          </a:xfrm>
          <a:prstGeom prst="rect">
            <a:avLst/>
          </a:prstGeom>
        </p:spPr>
        <p:txBody>
          <a:bodyPr lIns="0" tIns="0" rIns="0" bIns="0" rtlCol="0" anchor="t">
            <a:spAutoFit/>
          </a:bodyPr>
          <a:lstStyle/>
          <a:p>
            <a:pPr algn="just">
              <a:lnSpc>
                <a:spcPts val="2145"/>
              </a:lnSpc>
            </a:pPr>
            <a:r>
              <a:rPr lang="en-US" b="1" dirty="0" smtClean="0">
                <a:solidFill>
                  <a:srgbClr val="FFFFFF"/>
                </a:solidFill>
                <a:latin typeface="Poppins Light"/>
                <a:ea typeface="Poppins Light"/>
                <a:cs typeface="Poppins Light"/>
                <a:sym typeface="Poppins Light"/>
              </a:rPr>
              <a:t>The Discovery gap : </a:t>
            </a:r>
            <a:r>
              <a:rPr lang="en-US" b="1" dirty="0" smtClean="0">
                <a:solidFill>
                  <a:srgbClr val="FFFFFF"/>
                </a:solidFill>
                <a:latin typeface="Poppins Light"/>
                <a:ea typeface="Poppins Light"/>
                <a:cs typeface="Poppins Light"/>
                <a:sym typeface="Poppins Light"/>
              </a:rPr>
              <a:t>Grieving </a:t>
            </a:r>
            <a:r>
              <a:rPr lang="en-US" b="1" dirty="0" smtClean="0">
                <a:solidFill>
                  <a:srgbClr val="FFFFFF"/>
                </a:solidFill>
                <a:latin typeface="Poppins Light"/>
                <a:ea typeface="Poppins Light"/>
                <a:cs typeface="Poppins Light"/>
                <a:sym typeface="Poppins Light"/>
              </a:rPr>
              <a:t>families often don’t know what bank accounts, crypto wallets, or digital vaults the deceased owned.</a:t>
            </a:r>
            <a:endParaRPr lang="en-US" b="1" dirty="0">
              <a:solidFill>
                <a:srgbClr val="FFFFFF"/>
              </a:solidFill>
              <a:latin typeface="Poppins Light"/>
              <a:ea typeface="Poppins Light"/>
              <a:cs typeface="Poppins Light"/>
              <a:sym typeface="Poppins Light"/>
            </a:endParaRPr>
          </a:p>
        </p:txBody>
      </p:sp>
      <p:sp>
        <p:nvSpPr>
          <p:cNvPr id="18" name="TextBox 13"/>
          <p:cNvSpPr txBox="1"/>
          <p:nvPr/>
        </p:nvSpPr>
        <p:spPr>
          <a:xfrm>
            <a:off x="14630400" y="1356171"/>
            <a:ext cx="2248485" cy="282129"/>
          </a:xfrm>
          <a:prstGeom prst="rect">
            <a:avLst/>
          </a:prstGeom>
        </p:spPr>
        <p:txBody>
          <a:bodyPr wrap="square" lIns="0" tIns="0" rIns="0" bIns="0" rtlCol="0" anchor="t">
            <a:spAutoFit/>
          </a:bodyPr>
          <a:lstStyle/>
          <a:p>
            <a:pPr algn="r">
              <a:lnSpc>
                <a:spcPts val="2188"/>
              </a:lnSpc>
            </a:pPr>
            <a:r>
              <a:rPr lang="en-US" sz="2083" spc="-20" dirty="0" smtClean="0">
                <a:solidFill>
                  <a:srgbClr val="FFFFFF"/>
                </a:solidFill>
                <a:latin typeface="Poppins Light"/>
                <a:ea typeface="Poppins Light"/>
                <a:cs typeface="Poppins Light"/>
                <a:sym typeface="Poppins Light"/>
              </a:rPr>
              <a:t>GOOGLE CLOUD</a:t>
            </a:r>
            <a:endParaRPr lang="en-US" sz="2083" spc="-20" dirty="0">
              <a:solidFill>
                <a:srgbClr val="FFFFFF"/>
              </a:solidFill>
              <a:latin typeface="Poppins Light"/>
              <a:ea typeface="Poppins Light"/>
              <a:cs typeface="Poppins Light"/>
              <a:sym typeface="Poppins Light"/>
            </a:endParaRPr>
          </a:p>
        </p:txBody>
      </p:sp>
      <p:sp>
        <p:nvSpPr>
          <p:cNvPr id="19" name="TextBox 11"/>
          <p:cNvSpPr txBox="1"/>
          <p:nvPr/>
        </p:nvSpPr>
        <p:spPr>
          <a:xfrm>
            <a:off x="1328648" y="1356171"/>
            <a:ext cx="5453152" cy="282129"/>
          </a:xfrm>
          <a:prstGeom prst="rect">
            <a:avLst/>
          </a:prstGeom>
        </p:spPr>
        <p:txBody>
          <a:bodyPr wrap="square" lIns="0" tIns="0" rIns="0" bIns="0" rtlCol="0" anchor="t">
            <a:spAutoFit/>
          </a:bodyPr>
          <a:lstStyle/>
          <a:p>
            <a:pPr marL="449935" lvl="1" indent="-224967" algn="l">
              <a:lnSpc>
                <a:spcPts val="2188"/>
              </a:lnSpc>
              <a:buFont typeface="Arial"/>
              <a:buChar char="•"/>
            </a:pPr>
            <a:r>
              <a:rPr lang="en-US" sz="2083" spc="-20" dirty="0" smtClean="0">
                <a:solidFill>
                  <a:srgbClr val="FFFFFF"/>
                </a:solidFill>
                <a:latin typeface="Poppins Light"/>
                <a:ea typeface="Poppins Light"/>
                <a:cs typeface="Poppins Light"/>
                <a:sym typeface="Poppins Light"/>
              </a:rPr>
              <a:t>ALL INDIA AGENTIC HACKATHON 2026</a:t>
            </a:r>
            <a:endParaRPr lang="en-US" sz="2083" spc="-20" dirty="0">
              <a:solidFill>
                <a:srgbClr val="FFFFFF"/>
              </a:solidFill>
              <a:latin typeface="Poppins Light"/>
              <a:ea typeface="Poppins Light"/>
              <a:cs typeface="Poppins Light"/>
              <a:sym typeface="Poppins Light"/>
            </a:endParaRPr>
          </a:p>
        </p:txBody>
      </p:sp>
      <p:sp>
        <p:nvSpPr>
          <p:cNvPr id="20" name="TextBox 14"/>
          <p:cNvSpPr txBox="1"/>
          <p:nvPr/>
        </p:nvSpPr>
        <p:spPr>
          <a:xfrm>
            <a:off x="8839200" y="6545387"/>
            <a:ext cx="7365353" cy="807913"/>
          </a:xfrm>
          <a:prstGeom prst="rect">
            <a:avLst/>
          </a:prstGeom>
        </p:spPr>
        <p:txBody>
          <a:bodyPr lIns="0" tIns="0" rIns="0" bIns="0" rtlCol="0" anchor="t">
            <a:spAutoFit/>
          </a:bodyPr>
          <a:lstStyle/>
          <a:p>
            <a:pPr algn="just">
              <a:lnSpc>
                <a:spcPts val="2145"/>
              </a:lnSpc>
            </a:pPr>
            <a:r>
              <a:rPr lang="en-US" b="1" dirty="0" smtClean="0">
                <a:solidFill>
                  <a:srgbClr val="FFFFFF"/>
                </a:solidFill>
                <a:latin typeface="Poppins Light"/>
                <a:ea typeface="Poppins Light"/>
                <a:cs typeface="Poppins Light"/>
                <a:sym typeface="Poppins Light"/>
              </a:rPr>
              <a:t>Corporate Harassments : Banks routinely ignore RBI’s 15-day claim settlement mandate, forcing families into months of court bureaucracy for succession certificates. </a:t>
            </a:r>
            <a:endParaRPr lang="en-US" b="1" dirty="0">
              <a:solidFill>
                <a:srgbClr val="FFFFFF"/>
              </a:solidFill>
              <a:latin typeface="Poppins Light"/>
              <a:ea typeface="Poppins Light"/>
              <a:cs typeface="Poppins Light"/>
              <a:sym typeface="Poppins Light"/>
            </a:endParaRPr>
          </a:p>
        </p:txBody>
      </p:sp>
      <p:sp>
        <p:nvSpPr>
          <p:cNvPr id="21" name="TextBox 13"/>
          <p:cNvSpPr txBox="1"/>
          <p:nvPr/>
        </p:nvSpPr>
        <p:spPr>
          <a:xfrm>
            <a:off x="1371600" y="2476500"/>
            <a:ext cx="15392400" cy="2051844"/>
          </a:xfrm>
          <a:prstGeom prst="rect">
            <a:avLst/>
          </a:prstGeom>
        </p:spPr>
        <p:txBody>
          <a:bodyPr wrap="square" lIns="0" tIns="0" rIns="0" bIns="0" rtlCol="0" anchor="t">
            <a:spAutoFit/>
          </a:bodyPr>
          <a:lstStyle/>
          <a:p>
            <a:pPr>
              <a:lnSpc>
                <a:spcPts val="1984"/>
              </a:lnSpc>
            </a:pPr>
            <a:r>
              <a:rPr lang="en-US" sz="2800" b="1" spc="-18" dirty="0" smtClean="0">
                <a:solidFill>
                  <a:srgbClr val="FFFFFF"/>
                </a:solidFill>
                <a:latin typeface="Poppins Light"/>
                <a:ea typeface="Poppins Light"/>
                <a:cs typeface="Poppins Light"/>
                <a:sym typeface="Poppins Light"/>
              </a:rPr>
              <a:t>A REAL SCENARIO :  </a:t>
            </a:r>
          </a:p>
          <a:p>
            <a:pPr>
              <a:lnSpc>
                <a:spcPts val="1984"/>
              </a:lnSpc>
            </a:pPr>
            <a:endParaRPr lang="en-US" sz="2800" b="1" spc="-18" dirty="0" smtClean="0">
              <a:solidFill>
                <a:srgbClr val="FFFFFF"/>
              </a:solidFill>
              <a:latin typeface="Poppins Light"/>
              <a:ea typeface="Poppins Light"/>
              <a:cs typeface="Poppins Light"/>
              <a:sym typeface="Poppins Light"/>
            </a:endParaRPr>
          </a:p>
          <a:p>
            <a:pPr>
              <a:lnSpc>
                <a:spcPts val="1984"/>
              </a:lnSpc>
            </a:pPr>
            <a:r>
              <a:rPr lang="en-US" sz="2100" b="1" spc="-18" dirty="0" smtClean="0">
                <a:solidFill>
                  <a:srgbClr val="FFFFFF"/>
                </a:solidFill>
                <a:latin typeface="Poppins Light"/>
                <a:ea typeface="Poppins Light"/>
                <a:cs typeface="Poppins Light"/>
                <a:sym typeface="Poppins Light"/>
              </a:rPr>
              <a:t>Consider Arjun –</a:t>
            </a:r>
          </a:p>
          <a:p>
            <a:pPr>
              <a:lnSpc>
                <a:spcPts val="1984"/>
              </a:lnSpc>
            </a:pPr>
            <a:r>
              <a:rPr lang="en-US" sz="2100" b="1" spc="-18" dirty="0" smtClean="0">
                <a:solidFill>
                  <a:srgbClr val="FFFFFF"/>
                </a:solidFill>
                <a:latin typeface="Poppins Light"/>
                <a:ea typeface="Poppins Light"/>
                <a:cs typeface="Poppins Light"/>
                <a:sym typeface="Poppins Light"/>
              </a:rPr>
              <a:t>His death is sudden. His family knows he likely had bank accounts, mutual funds, insurance, crypto and cloud documents – but not which institutions, which account identifiers, whether nominees were even registered, or what the claim process requires. Every institutions, which account identifiers, whether nominees were even registered, or what the claim process requires. Every institution has its own KYC, documentation, and legal-heir rules; there is no universal portal that can move money on their behalf.</a:t>
            </a:r>
            <a:endParaRPr lang="en-US" sz="2100" b="1" spc="-18" dirty="0">
              <a:solidFill>
                <a:srgbClr val="FFFFFF"/>
              </a:solidFill>
              <a:latin typeface="Poppins Light"/>
              <a:ea typeface="Poppins Light"/>
              <a:cs typeface="Poppins Light"/>
              <a:sym typeface="Poppi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cstate="print"/>
            <a:stretch>
              <a:fillRect l="-60" r="-60"/>
            </a:stretch>
          </a:blipFill>
        </p:spPr>
      </p:sp>
      <p:grpSp>
        <p:nvGrpSpPr>
          <p:cNvPr id="9" name="Group 9"/>
          <p:cNvGrpSpPr/>
          <p:nvPr/>
        </p:nvGrpSpPr>
        <p:grpSpPr>
          <a:xfrm>
            <a:off x="1028700" y="1041826"/>
            <a:ext cx="16230600" cy="897168"/>
            <a:chOff x="0" y="0"/>
            <a:chExt cx="4274726" cy="236291"/>
          </a:xfrm>
        </p:grpSpPr>
        <p:sp>
          <p:nvSpPr>
            <p:cNvPr id="10" name="Freeform 10"/>
            <p:cNvSpPr/>
            <p:nvPr/>
          </p:nvSpPr>
          <p:spPr>
            <a:xfrm>
              <a:off x="0" y="0"/>
              <a:ext cx="4274726" cy="236291"/>
            </a:xfrm>
            <a:custGeom>
              <a:avLst/>
              <a:gdLst/>
              <a:ahLst/>
              <a:cxnLst/>
              <a:rect l="l" t="t" r="r" b="b"/>
              <a:pathLst>
                <a:path w="4274726" h="236291">
                  <a:moveTo>
                    <a:pt x="47700" y="0"/>
                  </a:moveTo>
                  <a:lnTo>
                    <a:pt x="4227026" y="0"/>
                  </a:lnTo>
                  <a:cubicBezTo>
                    <a:pt x="4239677" y="0"/>
                    <a:pt x="4251809" y="5025"/>
                    <a:pt x="4260755" y="13971"/>
                  </a:cubicBezTo>
                  <a:cubicBezTo>
                    <a:pt x="4269700" y="22916"/>
                    <a:pt x="4274726" y="35049"/>
                    <a:pt x="4274726" y="47700"/>
                  </a:cubicBezTo>
                  <a:lnTo>
                    <a:pt x="4274726" y="188592"/>
                  </a:lnTo>
                  <a:cubicBezTo>
                    <a:pt x="4274726" y="201242"/>
                    <a:pt x="4269700" y="213375"/>
                    <a:pt x="4260755" y="222320"/>
                  </a:cubicBezTo>
                  <a:cubicBezTo>
                    <a:pt x="4251809" y="231266"/>
                    <a:pt x="4239677" y="236291"/>
                    <a:pt x="4227026" y="236291"/>
                  </a:cubicBezTo>
                  <a:lnTo>
                    <a:pt x="47700" y="236291"/>
                  </a:lnTo>
                  <a:cubicBezTo>
                    <a:pt x="35049" y="236291"/>
                    <a:pt x="22916" y="231266"/>
                    <a:pt x="13971" y="222320"/>
                  </a:cubicBezTo>
                  <a:cubicBezTo>
                    <a:pt x="5025" y="213375"/>
                    <a:pt x="0" y="201242"/>
                    <a:pt x="0" y="188592"/>
                  </a:cubicBezTo>
                  <a:lnTo>
                    <a:pt x="0" y="47700"/>
                  </a:lnTo>
                  <a:cubicBezTo>
                    <a:pt x="0" y="35049"/>
                    <a:pt x="5025" y="22916"/>
                    <a:pt x="13971" y="13971"/>
                  </a:cubicBezTo>
                  <a:cubicBezTo>
                    <a:pt x="22916" y="5025"/>
                    <a:pt x="35049" y="0"/>
                    <a:pt x="47700" y="0"/>
                  </a:cubicBezTo>
                  <a:close/>
                </a:path>
              </a:pathLst>
            </a:custGeom>
            <a:gradFill rotWithShape="1">
              <a:gsLst>
                <a:gs pos="0">
                  <a:srgbClr val="6E001E">
                    <a:alpha val="66000"/>
                  </a:srgbClr>
                </a:gs>
                <a:gs pos="50000">
                  <a:srgbClr val="65204C">
                    <a:alpha val="66000"/>
                  </a:srgbClr>
                </a:gs>
                <a:gs pos="100000">
                  <a:srgbClr val="69465D">
                    <a:alpha val="66000"/>
                  </a:srgbClr>
                </a:gs>
              </a:gsLst>
              <a:lin ang="2700000"/>
            </a:gradFill>
            <a:ln w="19050" cap="rnd">
              <a:solidFill>
                <a:srgbClr val="FFFFFF">
                  <a:alpha val="65882"/>
                </a:srgbClr>
              </a:solidFill>
              <a:prstDash val="solid"/>
              <a:round/>
            </a:ln>
          </p:spPr>
        </p:sp>
        <p:sp>
          <p:nvSpPr>
            <p:cNvPr id="11" name="TextBox 11"/>
            <p:cNvSpPr txBox="1"/>
            <p:nvPr/>
          </p:nvSpPr>
          <p:spPr>
            <a:xfrm>
              <a:off x="0" y="-57150"/>
              <a:ext cx="4274726" cy="293441"/>
            </a:xfrm>
            <a:prstGeom prst="rect">
              <a:avLst/>
            </a:prstGeom>
          </p:spPr>
          <p:txBody>
            <a:bodyPr lIns="50800" tIns="50800" rIns="50800" bIns="50800" rtlCol="0" anchor="ctr"/>
            <a:lstStyle/>
            <a:p>
              <a:pPr algn="ctr">
                <a:lnSpc>
                  <a:spcPts val="2659"/>
                </a:lnSpc>
                <a:spcBef>
                  <a:spcPct val="0"/>
                </a:spcBef>
              </a:pPr>
              <a:endParaRPr/>
            </a:p>
          </p:txBody>
        </p:sp>
      </p:grpSp>
      <p:sp>
        <p:nvSpPr>
          <p:cNvPr id="15" name="AutoShape 15"/>
          <p:cNvSpPr/>
          <p:nvPr/>
        </p:nvSpPr>
        <p:spPr>
          <a:xfrm flipV="1">
            <a:off x="1028700" y="9277350"/>
            <a:ext cx="16230600" cy="0"/>
          </a:xfrm>
          <a:prstGeom prst="line">
            <a:avLst/>
          </a:prstGeom>
          <a:ln w="38100" cap="flat">
            <a:solidFill>
              <a:srgbClr val="FFFFFF"/>
            </a:solidFill>
            <a:prstDash val="solid"/>
            <a:headEnd type="none" w="sm" len="sm"/>
            <a:tailEnd type="none" w="sm" len="sm"/>
          </a:ln>
        </p:spPr>
      </p:sp>
      <p:sp>
        <p:nvSpPr>
          <p:cNvPr id="16" name="TextBox 13"/>
          <p:cNvSpPr txBox="1"/>
          <p:nvPr/>
        </p:nvSpPr>
        <p:spPr>
          <a:xfrm>
            <a:off x="14630400" y="1356171"/>
            <a:ext cx="2248485" cy="282129"/>
          </a:xfrm>
          <a:prstGeom prst="rect">
            <a:avLst/>
          </a:prstGeom>
        </p:spPr>
        <p:txBody>
          <a:bodyPr wrap="square" lIns="0" tIns="0" rIns="0" bIns="0" rtlCol="0" anchor="t">
            <a:spAutoFit/>
          </a:bodyPr>
          <a:lstStyle/>
          <a:p>
            <a:pPr algn="r">
              <a:lnSpc>
                <a:spcPts val="2188"/>
              </a:lnSpc>
            </a:pPr>
            <a:r>
              <a:rPr lang="en-US" sz="2083" spc="-20" dirty="0" smtClean="0">
                <a:solidFill>
                  <a:srgbClr val="FFFFFF"/>
                </a:solidFill>
                <a:latin typeface="Poppins Light"/>
                <a:ea typeface="Poppins Light"/>
                <a:cs typeface="Poppins Light"/>
                <a:sym typeface="Poppins Light"/>
              </a:rPr>
              <a:t>GOOGLE CLOUD</a:t>
            </a:r>
            <a:endParaRPr lang="en-US" sz="2083" spc="-20" dirty="0">
              <a:solidFill>
                <a:srgbClr val="FFFFFF"/>
              </a:solidFill>
              <a:latin typeface="Poppins Light"/>
              <a:ea typeface="Poppins Light"/>
              <a:cs typeface="Poppins Light"/>
              <a:sym typeface="Poppins Light"/>
            </a:endParaRPr>
          </a:p>
        </p:txBody>
      </p:sp>
      <p:sp>
        <p:nvSpPr>
          <p:cNvPr id="17" name="TextBox 11"/>
          <p:cNvSpPr txBox="1"/>
          <p:nvPr/>
        </p:nvSpPr>
        <p:spPr>
          <a:xfrm>
            <a:off x="1328648" y="1356171"/>
            <a:ext cx="5453152" cy="282129"/>
          </a:xfrm>
          <a:prstGeom prst="rect">
            <a:avLst/>
          </a:prstGeom>
        </p:spPr>
        <p:txBody>
          <a:bodyPr wrap="square" lIns="0" tIns="0" rIns="0" bIns="0" rtlCol="0" anchor="t">
            <a:spAutoFit/>
          </a:bodyPr>
          <a:lstStyle/>
          <a:p>
            <a:pPr marL="449935" lvl="1" indent="-224967" algn="l">
              <a:lnSpc>
                <a:spcPts val="2188"/>
              </a:lnSpc>
              <a:buFont typeface="Arial"/>
              <a:buChar char="•"/>
            </a:pPr>
            <a:r>
              <a:rPr lang="en-US" sz="2083" spc="-20" dirty="0" smtClean="0">
                <a:solidFill>
                  <a:srgbClr val="FFFFFF"/>
                </a:solidFill>
                <a:latin typeface="Poppins Light"/>
                <a:ea typeface="Poppins Light"/>
                <a:cs typeface="Poppins Light"/>
                <a:sym typeface="Poppins Light"/>
              </a:rPr>
              <a:t>ALL INDIA AGENTIC HACKATHON 2026</a:t>
            </a:r>
            <a:endParaRPr lang="en-US" sz="2083" spc="-20" dirty="0">
              <a:solidFill>
                <a:srgbClr val="FFFFFF"/>
              </a:solidFill>
              <a:latin typeface="Poppins Light"/>
              <a:ea typeface="Poppins Light"/>
              <a:cs typeface="Poppins Light"/>
              <a:sym typeface="Poppins Light"/>
            </a:endParaRPr>
          </a:p>
        </p:txBody>
      </p:sp>
      <p:sp>
        <p:nvSpPr>
          <p:cNvPr id="18" name="TextBox 6"/>
          <p:cNvSpPr txBox="1"/>
          <p:nvPr/>
        </p:nvSpPr>
        <p:spPr>
          <a:xfrm>
            <a:off x="1274306" y="2793669"/>
            <a:ext cx="7488694" cy="2121231"/>
          </a:xfrm>
          <a:prstGeom prst="rect">
            <a:avLst/>
          </a:prstGeom>
        </p:spPr>
        <p:txBody>
          <a:bodyPr wrap="square" lIns="0" tIns="0" rIns="0" bIns="0" rtlCol="0" anchor="t">
            <a:spAutoFit/>
          </a:bodyPr>
          <a:lstStyle/>
          <a:p>
            <a:pPr algn="l">
              <a:lnSpc>
                <a:spcPts val="5528"/>
              </a:lnSpc>
            </a:pPr>
            <a:r>
              <a:rPr lang="en-US" sz="6075" b="1" spc="-60" dirty="0">
                <a:solidFill>
                  <a:srgbClr val="FFFFFF"/>
                </a:solidFill>
                <a:latin typeface="Poppins Bold"/>
                <a:ea typeface="Poppins Bold"/>
                <a:cs typeface="Poppins Bold"/>
                <a:sym typeface="Poppins Bold"/>
              </a:rPr>
              <a:t>GROUNDED IN REAL LAW, NOT ASSUMPTIONS</a:t>
            </a:r>
          </a:p>
        </p:txBody>
      </p:sp>
      <p:sp>
        <p:nvSpPr>
          <p:cNvPr id="19" name="TextBox 7"/>
          <p:cNvSpPr txBox="1"/>
          <p:nvPr/>
        </p:nvSpPr>
        <p:spPr>
          <a:xfrm>
            <a:off x="990600" y="7048500"/>
            <a:ext cx="7488694" cy="702676"/>
          </a:xfrm>
          <a:prstGeom prst="rect">
            <a:avLst/>
          </a:prstGeom>
        </p:spPr>
        <p:txBody>
          <a:bodyPr lIns="0" tIns="0" rIns="0" bIns="0" rtlCol="0" anchor="t">
            <a:spAutoFit/>
          </a:bodyPr>
          <a:lstStyle/>
          <a:p>
            <a:pPr algn="just">
              <a:lnSpc>
                <a:spcPts val="1848"/>
              </a:lnSpc>
            </a:pPr>
            <a:r>
              <a:rPr lang="en-US" sz="2000" b="1" dirty="0">
                <a:solidFill>
                  <a:srgbClr val="FFFFFF"/>
                </a:solidFill>
                <a:latin typeface="Poppins Light"/>
                <a:ea typeface="Poppins Light"/>
                <a:cs typeface="Poppins Light"/>
                <a:sym typeface="Poppins Light"/>
              </a:rPr>
              <a:t>DPDP Act 2023 (Section 14): Grants every citizen the explicit Right to Nominate someone to manage their digital legacy after death or incapacity.</a:t>
            </a:r>
          </a:p>
        </p:txBody>
      </p:sp>
      <p:sp>
        <p:nvSpPr>
          <p:cNvPr id="20" name="TextBox 3"/>
          <p:cNvSpPr txBox="1"/>
          <p:nvPr/>
        </p:nvSpPr>
        <p:spPr>
          <a:xfrm>
            <a:off x="9770606" y="2781300"/>
            <a:ext cx="7488694" cy="577081"/>
          </a:xfrm>
          <a:prstGeom prst="rect">
            <a:avLst/>
          </a:prstGeom>
        </p:spPr>
        <p:txBody>
          <a:bodyPr lIns="0" tIns="0" rIns="0" bIns="0" rtlCol="0" anchor="t">
            <a:spAutoFit/>
          </a:bodyPr>
          <a:lstStyle/>
          <a:p>
            <a:pPr algn="l">
              <a:lnSpc>
                <a:spcPts val="1547"/>
              </a:lnSpc>
            </a:pPr>
            <a:r>
              <a:rPr lang="en-US" sz="2000" b="1" spc="-14" dirty="0" smtClean="0">
                <a:solidFill>
                  <a:srgbClr val="FFFFFF"/>
                </a:solidFill>
                <a:latin typeface="Poppins Light"/>
                <a:ea typeface="Poppins Light"/>
                <a:cs typeface="Poppins Light"/>
                <a:sym typeface="Poppins Light"/>
              </a:rPr>
              <a:t>Legacy Lock </a:t>
            </a:r>
            <a:r>
              <a:rPr lang="en-US" sz="2000" b="1" spc="-14" dirty="0">
                <a:solidFill>
                  <a:srgbClr val="FFFFFF"/>
                </a:solidFill>
                <a:latin typeface="Poppins Light"/>
                <a:ea typeface="Poppins Light"/>
                <a:cs typeface="Poppins Light"/>
                <a:sym typeface="Poppins Light"/>
              </a:rPr>
              <a:t>isn't a workaround. Every workflow maps to an existing Indian statute or regulatory directive — not an assumption about what a bank might allow.</a:t>
            </a:r>
          </a:p>
        </p:txBody>
      </p:sp>
      <p:pic>
        <p:nvPicPr>
          <p:cNvPr id="10245" name="Picture 5"/>
          <p:cNvPicPr>
            <a:picLocks noChangeAspect="1" noChangeArrowheads="1"/>
          </p:cNvPicPr>
          <p:nvPr/>
        </p:nvPicPr>
        <p:blipFill>
          <a:blip r:embed="rId3" cstate="print">
            <a:lum bright="-2000" contrast="-30000"/>
          </a:blip>
          <a:srcRect/>
          <a:stretch>
            <a:fillRect/>
          </a:stretch>
        </p:blipFill>
        <p:spPr bwMode="auto">
          <a:xfrm>
            <a:off x="11353800" y="4000500"/>
            <a:ext cx="4191000" cy="4870661"/>
          </a:xfrm>
          <a:prstGeom prst="rect">
            <a:avLst/>
          </a:prstGeom>
          <a:noFill/>
          <a:ln w="9525">
            <a:noFill/>
            <a:miter lim="800000"/>
            <a:headEnd/>
            <a:tailEnd/>
          </a:ln>
          <a:effectLst>
            <a:outerShdw blurRad="520700" dist="50800" dir="13500000" algn="br" rotWithShape="0">
              <a:prstClr val="black">
                <a:alpha val="40000"/>
              </a:prstClr>
            </a:outerShdw>
          </a:effectLst>
        </p:spPr>
      </p:pic>
      <p:sp>
        <p:nvSpPr>
          <p:cNvPr id="21" name="TextBox 4"/>
          <p:cNvSpPr txBox="1"/>
          <p:nvPr/>
        </p:nvSpPr>
        <p:spPr>
          <a:xfrm>
            <a:off x="9770606" y="6967185"/>
            <a:ext cx="7488694" cy="702676"/>
          </a:xfrm>
          <a:prstGeom prst="rect">
            <a:avLst/>
          </a:prstGeom>
        </p:spPr>
        <p:txBody>
          <a:bodyPr lIns="0" tIns="0" rIns="0" bIns="0" rtlCol="0" anchor="t">
            <a:spAutoFit/>
          </a:bodyPr>
          <a:lstStyle/>
          <a:p>
            <a:pPr algn="just">
              <a:lnSpc>
                <a:spcPts val="1848"/>
              </a:lnSpc>
            </a:pPr>
            <a:r>
              <a:rPr lang="en-US" sz="2000" b="1" dirty="0">
                <a:solidFill>
                  <a:srgbClr val="FFFFFF"/>
                </a:solidFill>
                <a:latin typeface="Poppins Light"/>
                <a:ea typeface="Poppins Light"/>
                <a:cs typeface="Poppins Light"/>
                <a:sym typeface="Poppins Light"/>
              </a:rPr>
              <a:t>Banking Regulation Act (Section 45ZA): Entitles the registered nominee to assume the complete rights of the account holder instantly.</a:t>
            </a:r>
          </a:p>
        </p:txBody>
      </p:sp>
      <p:sp>
        <p:nvSpPr>
          <p:cNvPr id="22" name="TextBox 5"/>
          <p:cNvSpPr txBox="1"/>
          <p:nvPr/>
        </p:nvSpPr>
        <p:spPr>
          <a:xfrm>
            <a:off x="9770606" y="8091726"/>
            <a:ext cx="7488694" cy="702676"/>
          </a:xfrm>
          <a:prstGeom prst="rect">
            <a:avLst/>
          </a:prstGeom>
        </p:spPr>
        <p:txBody>
          <a:bodyPr lIns="0" tIns="0" rIns="0" bIns="0" rtlCol="0" anchor="t">
            <a:spAutoFit/>
          </a:bodyPr>
          <a:lstStyle/>
          <a:p>
            <a:pPr algn="just">
              <a:lnSpc>
                <a:spcPts val="1848"/>
              </a:lnSpc>
            </a:pPr>
            <a:r>
              <a:rPr lang="en-US" sz="2000" b="1" dirty="0">
                <a:solidFill>
                  <a:srgbClr val="FFFFFF"/>
                </a:solidFill>
                <a:latin typeface="Poppins Light"/>
                <a:ea typeface="Poppins Light"/>
                <a:cs typeface="Poppins Light"/>
                <a:sym typeface="Poppins Light"/>
              </a:rPr>
              <a:t>RBI Master Circular: Orders banks not to demand court documents like Wills or Succession Certificates when a nominee exists — settlement is due within 15 days.</a:t>
            </a:r>
          </a:p>
        </p:txBody>
      </p:sp>
      <p:sp>
        <p:nvSpPr>
          <p:cNvPr id="23" name="TextBox 8"/>
          <p:cNvSpPr txBox="1"/>
          <p:nvPr/>
        </p:nvSpPr>
        <p:spPr>
          <a:xfrm>
            <a:off x="1028700" y="8091726"/>
            <a:ext cx="7488694" cy="475771"/>
          </a:xfrm>
          <a:prstGeom prst="rect">
            <a:avLst/>
          </a:prstGeom>
        </p:spPr>
        <p:txBody>
          <a:bodyPr lIns="0" tIns="0" rIns="0" bIns="0" rtlCol="0" anchor="t">
            <a:spAutoFit/>
          </a:bodyPr>
          <a:lstStyle/>
          <a:p>
            <a:pPr algn="just">
              <a:lnSpc>
                <a:spcPts val="1848"/>
              </a:lnSpc>
            </a:pPr>
            <a:r>
              <a:rPr lang="en-US" sz="2000" b="1" dirty="0">
                <a:solidFill>
                  <a:srgbClr val="FFFFFF"/>
                </a:solidFill>
                <a:latin typeface="Poppins Light"/>
                <a:ea typeface="Poppins Light"/>
                <a:cs typeface="Poppins Light"/>
                <a:sym typeface="Poppins Light"/>
              </a:rPr>
              <a:t>Every </a:t>
            </a:r>
            <a:r>
              <a:rPr lang="en-US" sz="2000" b="1" dirty="0" smtClean="0">
                <a:solidFill>
                  <a:srgbClr val="FFFFFF"/>
                </a:solidFill>
                <a:latin typeface="Poppins Light"/>
                <a:ea typeface="Poppins Light"/>
                <a:cs typeface="Poppins Light"/>
                <a:sym typeface="Poppins Light"/>
              </a:rPr>
              <a:t>Legacy Lock </a:t>
            </a:r>
            <a:r>
              <a:rPr lang="en-US" sz="2000" b="1" dirty="0">
                <a:solidFill>
                  <a:srgbClr val="FFFFFF"/>
                </a:solidFill>
                <a:latin typeface="Poppins Light"/>
                <a:ea typeface="Poppins Light"/>
                <a:cs typeface="Poppins Light"/>
                <a:sym typeface="Poppins Light"/>
              </a:rPr>
              <a:t>workflow is built to satisfy one of these three provisions — nothing more, nothing less.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E001E">
                <a:alpha val="100000"/>
              </a:srgbClr>
            </a:gs>
            <a:gs pos="50000">
              <a:srgbClr val="3C102C">
                <a:alpha val="100000"/>
              </a:srgbClr>
            </a:gs>
            <a:gs pos="100000">
              <a:srgbClr val="69465D">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rot="-10800000">
            <a:off x="786375" y="-1"/>
            <a:ext cx="16715249" cy="4398074"/>
            <a:chOff x="0" y="0"/>
            <a:chExt cx="647700" cy="330200"/>
          </a:xfrm>
        </p:grpSpPr>
        <p:sp>
          <p:nvSpPr>
            <p:cNvPr id="3" name="Freeform 3"/>
            <p:cNvSpPr/>
            <p:nvPr/>
          </p:nvSpPr>
          <p:spPr>
            <a:xfrm>
              <a:off x="0" y="0"/>
              <a:ext cx="647700" cy="330200"/>
            </a:xfrm>
            <a:custGeom>
              <a:avLst/>
              <a:gdLst/>
              <a:ahLst/>
              <a:cxnLst/>
              <a:rect l="l" t="t" r="r" b="b"/>
              <a:pathLst>
                <a:path w="647700" h="330200">
                  <a:moveTo>
                    <a:pt x="647700" y="330200"/>
                  </a:moveTo>
                  <a:cubicBezTo>
                    <a:pt x="647700" y="150345"/>
                    <a:pt x="500247" y="0"/>
                    <a:pt x="323850" y="0"/>
                  </a:cubicBezTo>
                  <a:cubicBezTo>
                    <a:pt x="147453" y="0"/>
                    <a:pt x="0" y="150345"/>
                    <a:pt x="0" y="330200"/>
                  </a:cubicBezTo>
                  <a:lnTo>
                    <a:pt x="647700" y="330200"/>
                  </a:lnTo>
                  <a:close/>
                </a:path>
              </a:pathLst>
            </a:custGeom>
            <a:gradFill rotWithShape="1">
              <a:gsLst>
                <a:gs pos="0">
                  <a:srgbClr val="6E001E">
                    <a:alpha val="100000"/>
                  </a:srgbClr>
                </a:gs>
                <a:gs pos="50000">
                  <a:srgbClr val="3C102C">
                    <a:alpha val="100000"/>
                  </a:srgbClr>
                </a:gs>
                <a:gs pos="100000">
                  <a:srgbClr val="69465D">
                    <a:alpha val="100000"/>
                  </a:srgbClr>
                </a:gs>
              </a:gsLst>
              <a:lin ang="2700000"/>
            </a:gradFill>
          </p:spPr>
        </p:sp>
        <p:sp>
          <p:nvSpPr>
            <p:cNvPr id="4" name="TextBox 4"/>
            <p:cNvSpPr txBox="1"/>
            <p:nvPr/>
          </p:nvSpPr>
          <p:spPr>
            <a:xfrm>
              <a:off x="152400" y="69850"/>
              <a:ext cx="342900" cy="260350"/>
            </a:xfrm>
            <a:prstGeom prst="rect">
              <a:avLst/>
            </a:prstGeom>
          </p:spPr>
          <p:txBody>
            <a:bodyPr lIns="50800" tIns="50800" rIns="50800" bIns="50800" rtlCol="0" anchor="ctr"/>
            <a:lstStyle/>
            <a:p>
              <a:pPr algn="ctr">
                <a:lnSpc>
                  <a:spcPts val="1543"/>
                </a:lnSpc>
              </a:pPr>
              <a:endParaRPr/>
            </a:p>
          </p:txBody>
        </p:sp>
      </p:grpSp>
      <p:grpSp>
        <p:nvGrpSpPr>
          <p:cNvPr id="5" name="Group 5"/>
          <p:cNvGrpSpPr/>
          <p:nvPr/>
        </p:nvGrpSpPr>
        <p:grpSpPr>
          <a:xfrm>
            <a:off x="786376" y="5888927"/>
            <a:ext cx="16715249" cy="4398074"/>
            <a:chOff x="0" y="0"/>
            <a:chExt cx="647700" cy="330200"/>
          </a:xfrm>
        </p:grpSpPr>
        <p:sp>
          <p:nvSpPr>
            <p:cNvPr id="6" name="Freeform 6"/>
            <p:cNvSpPr/>
            <p:nvPr/>
          </p:nvSpPr>
          <p:spPr>
            <a:xfrm>
              <a:off x="0" y="0"/>
              <a:ext cx="647700" cy="330200"/>
            </a:xfrm>
            <a:custGeom>
              <a:avLst/>
              <a:gdLst/>
              <a:ahLst/>
              <a:cxnLst/>
              <a:rect l="l" t="t" r="r" b="b"/>
              <a:pathLst>
                <a:path w="647700" h="330200">
                  <a:moveTo>
                    <a:pt x="647700" y="330200"/>
                  </a:moveTo>
                  <a:cubicBezTo>
                    <a:pt x="647700" y="150345"/>
                    <a:pt x="500247" y="0"/>
                    <a:pt x="323850" y="0"/>
                  </a:cubicBezTo>
                  <a:cubicBezTo>
                    <a:pt x="147453" y="0"/>
                    <a:pt x="0" y="150345"/>
                    <a:pt x="0" y="330200"/>
                  </a:cubicBezTo>
                  <a:lnTo>
                    <a:pt x="647700" y="330200"/>
                  </a:lnTo>
                  <a:close/>
                </a:path>
              </a:pathLst>
            </a:custGeom>
            <a:gradFill rotWithShape="1">
              <a:gsLst>
                <a:gs pos="0">
                  <a:srgbClr val="6E001E">
                    <a:alpha val="100000"/>
                  </a:srgbClr>
                </a:gs>
                <a:gs pos="50000">
                  <a:srgbClr val="69465D">
                    <a:alpha val="100000"/>
                  </a:srgbClr>
                </a:gs>
                <a:gs pos="100000">
                  <a:srgbClr val="3C102C">
                    <a:alpha val="100000"/>
                  </a:srgbClr>
                </a:gs>
              </a:gsLst>
              <a:lin ang="2700000"/>
            </a:gradFill>
          </p:spPr>
        </p:sp>
        <p:sp>
          <p:nvSpPr>
            <p:cNvPr id="7" name="TextBox 7"/>
            <p:cNvSpPr txBox="1"/>
            <p:nvPr/>
          </p:nvSpPr>
          <p:spPr>
            <a:xfrm>
              <a:off x="152400" y="69850"/>
              <a:ext cx="342900" cy="260350"/>
            </a:xfrm>
            <a:prstGeom prst="rect">
              <a:avLst/>
            </a:prstGeom>
          </p:spPr>
          <p:txBody>
            <a:bodyPr lIns="50800" tIns="50800" rIns="50800" bIns="50800" rtlCol="0" anchor="ctr"/>
            <a:lstStyle/>
            <a:p>
              <a:pPr algn="ctr">
                <a:lnSpc>
                  <a:spcPts val="1543"/>
                </a:lnSpc>
              </a:pPr>
              <a:endParaRPr/>
            </a:p>
          </p:txBody>
        </p:sp>
      </p:grpSp>
      <p:grpSp>
        <p:nvGrpSpPr>
          <p:cNvPr id="8" name="Group 8"/>
          <p:cNvGrpSpPr/>
          <p:nvPr/>
        </p:nvGrpSpPr>
        <p:grpSpPr>
          <a:xfrm>
            <a:off x="1028700" y="1041826"/>
            <a:ext cx="16230600" cy="897168"/>
            <a:chOff x="0" y="0"/>
            <a:chExt cx="4274726" cy="236291"/>
          </a:xfrm>
        </p:grpSpPr>
        <p:sp>
          <p:nvSpPr>
            <p:cNvPr id="9" name="Freeform 9"/>
            <p:cNvSpPr/>
            <p:nvPr/>
          </p:nvSpPr>
          <p:spPr>
            <a:xfrm>
              <a:off x="0" y="0"/>
              <a:ext cx="4274726" cy="236291"/>
            </a:xfrm>
            <a:custGeom>
              <a:avLst/>
              <a:gdLst/>
              <a:ahLst/>
              <a:cxnLst/>
              <a:rect l="l" t="t" r="r" b="b"/>
              <a:pathLst>
                <a:path w="4274726" h="236291">
                  <a:moveTo>
                    <a:pt x="47700" y="0"/>
                  </a:moveTo>
                  <a:lnTo>
                    <a:pt x="4227026" y="0"/>
                  </a:lnTo>
                  <a:cubicBezTo>
                    <a:pt x="4239677" y="0"/>
                    <a:pt x="4251809" y="5025"/>
                    <a:pt x="4260755" y="13971"/>
                  </a:cubicBezTo>
                  <a:cubicBezTo>
                    <a:pt x="4269700" y="22916"/>
                    <a:pt x="4274726" y="35049"/>
                    <a:pt x="4274726" y="47700"/>
                  </a:cubicBezTo>
                  <a:lnTo>
                    <a:pt x="4274726" y="188592"/>
                  </a:lnTo>
                  <a:cubicBezTo>
                    <a:pt x="4274726" y="201242"/>
                    <a:pt x="4269700" y="213375"/>
                    <a:pt x="4260755" y="222320"/>
                  </a:cubicBezTo>
                  <a:cubicBezTo>
                    <a:pt x="4251809" y="231266"/>
                    <a:pt x="4239677" y="236291"/>
                    <a:pt x="4227026" y="236291"/>
                  </a:cubicBezTo>
                  <a:lnTo>
                    <a:pt x="47700" y="236291"/>
                  </a:lnTo>
                  <a:cubicBezTo>
                    <a:pt x="35049" y="236291"/>
                    <a:pt x="22916" y="231266"/>
                    <a:pt x="13971" y="222320"/>
                  </a:cubicBezTo>
                  <a:cubicBezTo>
                    <a:pt x="5025" y="213375"/>
                    <a:pt x="0" y="201242"/>
                    <a:pt x="0" y="188592"/>
                  </a:cubicBezTo>
                  <a:lnTo>
                    <a:pt x="0" y="47700"/>
                  </a:lnTo>
                  <a:cubicBezTo>
                    <a:pt x="0" y="35049"/>
                    <a:pt x="5025" y="22916"/>
                    <a:pt x="13971" y="13971"/>
                  </a:cubicBezTo>
                  <a:cubicBezTo>
                    <a:pt x="22916" y="5025"/>
                    <a:pt x="35049" y="0"/>
                    <a:pt x="47700" y="0"/>
                  </a:cubicBezTo>
                  <a:close/>
                </a:path>
              </a:pathLst>
            </a:custGeom>
            <a:gradFill rotWithShape="1">
              <a:gsLst>
                <a:gs pos="0">
                  <a:srgbClr val="6E001E">
                    <a:alpha val="66000"/>
                  </a:srgbClr>
                </a:gs>
                <a:gs pos="50000">
                  <a:srgbClr val="65204C">
                    <a:alpha val="66000"/>
                  </a:srgbClr>
                </a:gs>
                <a:gs pos="100000">
                  <a:srgbClr val="69465D">
                    <a:alpha val="66000"/>
                  </a:srgbClr>
                </a:gs>
              </a:gsLst>
              <a:lin ang="2700000"/>
            </a:gradFill>
            <a:ln w="19050" cap="rnd">
              <a:solidFill>
                <a:srgbClr val="FFFFFF">
                  <a:alpha val="65882"/>
                </a:srgbClr>
              </a:solidFill>
              <a:prstDash val="solid"/>
              <a:round/>
            </a:ln>
          </p:spPr>
        </p:sp>
        <p:sp>
          <p:nvSpPr>
            <p:cNvPr id="10" name="TextBox 10"/>
            <p:cNvSpPr txBox="1"/>
            <p:nvPr/>
          </p:nvSpPr>
          <p:spPr>
            <a:xfrm>
              <a:off x="0" y="-57150"/>
              <a:ext cx="4274726" cy="293441"/>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899143" y="2563250"/>
            <a:ext cx="6416057" cy="6695050"/>
            <a:chOff x="0" y="0"/>
            <a:chExt cx="1689826" cy="1763305"/>
          </a:xfrm>
        </p:grpSpPr>
        <p:sp>
          <p:nvSpPr>
            <p:cNvPr id="12" name="Freeform 12"/>
            <p:cNvSpPr/>
            <p:nvPr/>
          </p:nvSpPr>
          <p:spPr>
            <a:xfrm>
              <a:off x="0" y="0"/>
              <a:ext cx="1689826" cy="1763305"/>
            </a:xfrm>
            <a:custGeom>
              <a:avLst/>
              <a:gdLst/>
              <a:ahLst/>
              <a:cxnLst/>
              <a:rect l="l" t="t" r="r" b="b"/>
              <a:pathLst>
                <a:path w="1689826" h="1763305">
                  <a:moveTo>
                    <a:pt x="41026" y="0"/>
                  </a:moveTo>
                  <a:lnTo>
                    <a:pt x="1648800" y="0"/>
                  </a:lnTo>
                  <a:cubicBezTo>
                    <a:pt x="1659680" y="0"/>
                    <a:pt x="1670115" y="4322"/>
                    <a:pt x="1677809" y="12016"/>
                  </a:cubicBezTo>
                  <a:cubicBezTo>
                    <a:pt x="1685503" y="19710"/>
                    <a:pt x="1689826" y="30145"/>
                    <a:pt x="1689826" y="41026"/>
                  </a:cubicBezTo>
                  <a:lnTo>
                    <a:pt x="1689826" y="1722279"/>
                  </a:lnTo>
                  <a:cubicBezTo>
                    <a:pt x="1689826" y="1733160"/>
                    <a:pt x="1685503" y="1743595"/>
                    <a:pt x="1677809" y="1751289"/>
                  </a:cubicBezTo>
                  <a:cubicBezTo>
                    <a:pt x="1670115" y="1758983"/>
                    <a:pt x="1659680" y="1763305"/>
                    <a:pt x="1648800" y="1763305"/>
                  </a:cubicBezTo>
                  <a:lnTo>
                    <a:pt x="41026" y="1763305"/>
                  </a:lnTo>
                  <a:cubicBezTo>
                    <a:pt x="30145" y="1763305"/>
                    <a:pt x="19710" y="1758983"/>
                    <a:pt x="12016" y="1751289"/>
                  </a:cubicBezTo>
                  <a:cubicBezTo>
                    <a:pt x="4322" y="1743595"/>
                    <a:pt x="0" y="1733160"/>
                    <a:pt x="0" y="1722279"/>
                  </a:cubicBezTo>
                  <a:lnTo>
                    <a:pt x="0" y="41026"/>
                  </a:lnTo>
                  <a:cubicBezTo>
                    <a:pt x="0" y="30145"/>
                    <a:pt x="4322" y="19710"/>
                    <a:pt x="12016" y="12016"/>
                  </a:cubicBezTo>
                  <a:cubicBezTo>
                    <a:pt x="19710" y="4322"/>
                    <a:pt x="30145" y="0"/>
                    <a:pt x="41026" y="0"/>
                  </a:cubicBezTo>
                  <a:close/>
                </a:path>
              </a:pathLst>
            </a:custGeom>
            <a:solidFill>
              <a:srgbClr val="000000">
                <a:alpha val="41961"/>
              </a:srgbClr>
            </a:solidFill>
          </p:spPr>
        </p:sp>
        <p:sp>
          <p:nvSpPr>
            <p:cNvPr id="13" name="TextBox 13"/>
            <p:cNvSpPr txBox="1"/>
            <p:nvPr/>
          </p:nvSpPr>
          <p:spPr>
            <a:xfrm>
              <a:off x="0" y="9525"/>
              <a:ext cx="1689826" cy="1753780"/>
            </a:xfrm>
            <a:prstGeom prst="rect">
              <a:avLst/>
            </a:prstGeom>
          </p:spPr>
          <p:txBody>
            <a:bodyPr lIns="50800" tIns="50800" rIns="50800" bIns="50800" rtlCol="0" anchor="ctr"/>
            <a:lstStyle/>
            <a:p>
              <a:pPr algn="ctr">
                <a:lnSpc>
                  <a:spcPts val="2099"/>
                </a:lnSpc>
              </a:pPr>
              <a:endParaRPr/>
            </a:p>
          </p:txBody>
        </p:sp>
      </p:grpSp>
      <p:sp>
        <p:nvSpPr>
          <p:cNvPr id="22" name="TextBox 13"/>
          <p:cNvSpPr txBox="1"/>
          <p:nvPr/>
        </p:nvSpPr>
        <p:spPr>
          <a:xfrm>
            <a:off x="14630400" y="1356171"/>
            <a:ext cx="2248485" cy="282129"/>
          </a:xfrm>
          <a:prstGeom prst="rect">
            <a:avLst/>
          </a:prstGeom>
        </p:spPr>
        <p:txBody>
          <a:bodyPr wrap="square" lIns="0" tIns="0" rIns="0" bIns="0" rtlCol="0" anchor="t">
            <a:spAutoFit/>
          </a:bodyPr>
          <a:lstStyle/>
          <a:p>
            <a:pPr algn="r">
              <a:lnSpc>
                <a:spcPts val="2188"/>
              </a:lnSpc>
            </a:pPr>
            <a:r>
              <a:rPr lang="en-US" sz="2083" spc="-20" dirty="0" smtClean="0">
                <a:solidFill>
                  <a:srgbClr val="FFFFFF"/>
                </a:solidFill>
                <a:latin typeface="Poppins Light"/>
                <a:ea typeface="Poppins Light"/>
                <a:cs typeface="Poppins Light"/>
                <a:sym typeface="Poppins Light"/>
              </a:rPr>
              <a:t>GOOGLE CLOUD</a:t>
            </a:r>
            <a:endParaRPr lang="en-US" sz="2083" spc="-20" dirty="0">
              <a:solidFill>
                <a:srgbClr val="FFFFFF"/>
              </a:solidFill>
              <a:latin typeface="Poppins Light"/>
              <a:ea typeface="Poppins Light"/>
              <a:cs typeface="Poppins Light"/>
              <a:sym typeface="Poppins Light"/>
            </a:endParaRPr>
          </a:p>
        </p:txBody>
      </p:sp>
      <p:sp>
        <p:nvSpPr>
          <p:cNvPr id="23" name="TextBox 11"/>
          <p:cNvSpPr txBox="1"/>
          <p:nvPr/>
        </p:nvSpPr>
        <p:spPr>
          <a:xfrm>
            <a:off x="1328648" y="1356171"/>
            <a:ext cx="5453152" cy="282129"/>
          </a:xfrm>
          <a:prstGeom prst="rect">
            <a:avLst/>
          </a:prstGeom>
        </p:spPr>
        <p:txBody>
          <a:bodyPr wrap="square" lIns="0" tIns="0" rIns="0" bIns="0" rtlCol="0" anchor="t">
            <a:spAutoFit/>
          </a:bodyPr>
          <a:lstStyle/>
          <a:p>
            <a:pPr marL="449935" lvl="1" indent="-224967" algn="l">
              <a:lnSpc>
                <a:spcPts val="2188"/>
              </a:lnSpc>
              <a:buFont typeface="Arial"/>
              <a:buChar char="•"/>
            </a:pPr>
            <a:r>
              <a:rPr lang="en-US" sz="2083" spc="-20" dirty="0" smtClean="0">
                <a:solidFill>
                  <a:srgbClr val="FFFFFF"/>
                </a:solidFill>
                <a:latin typeface="Poppins Light"/>
                <a:ea typeface="Poppins Light"/>
                <a:cs typeface="Poppins Light"/>
                <a:sym typeface="Poppins Light"/>
              </a:rPr>
              <a:t>ALL INDIA AGENTIC HACKATHON 2026</a:t>
            </a:r>
            <a:endParaRPr lang="en-US" sz="2083" spc="-20" dirty="0">
              <a:solidFill>
                <a:srgbClr val="FFFFFF"/>
              </a:solidFill>
              <a:latin typeface="Poppins Light"/>
              <a:ea typeface="Poppins Light"/>
              <a:cs typeface="Poppins Light"/>
              <a:sym typeface="Poppins Light"/>
            </a:endParaRPr>
          </a:p>
        </p:txBody>
      </p:sp>
      <p:pic>
        <p:nvPicPr>
          <p:cNvPr id="24" name="Picture 23" descr="WhatsApp Image 2026-08-31 at 10.41.20 PM legacy lock.jpeg"/>
          <p:cNvPicPr>
            <a:picLocks noChangeAspect="1"/>
          </p:cNvPicPr>
          <p:nvPr/>
        </p:nvPicPr>
        <p:blipFill>
          <a:blip r:embed="rId3" cstate="print"/>
          <a:stretch>
            <a:fillRect/>
          </a:stretch>
        </p:blipFill>
        <p:spPr>
          <a:xfrm>
            <a:off x="7467600" y="2552700"/>
            <a:ext cx="5714999" cy="6705600"/>
          </a:xfrm>
          <a:prstGeom prst="rect">
            <a:avLst/>
          </a:prstGeom>
        </p:spPr>
      </p:pic>
      <p:pic>
        <p:nvPicPr>
          <p:cNvPr id="25" name="Picture 24" descr="WhatsApp Image 2026-08-31 at 10.41.20 PM.jpeg"/>
          <p:cNvPicPr>
            <a:picLocks noChangeAspect="1"/>
          </p:cNvPicPr>
          <p:nvPr/>
        </p:nvPicPr>
        <p:blipFill>
          <a:blip r:embed="rId4" cstate="print"/>
          <a:stretch>
            <a:fillRect/>
          </a:stretch>
        </p:blipFill>
        <p:spPr>
          <a:xfrm>
            <a:off x="13069028" y="2552700"/>
            <a:ext cx="5066572" cy="6705600"/>
          </a:xfrm>
          <a:prstGeom prst="rect">
            <a:avLst/>
          </a:prstGeom>
        </p:spPr>
      </p:pic>
      <p:sp>
        <p:nvSpPr>
          <p:cNvPr id="26" name="TextBox 9"/>
          <p:cNvSpPr txBox="1"/>
          <p:nvPr/>
        </p:nvSpPr>
        <p:spPr>
          <a:xfrm>
            <a:off x="1168456" y="2857500"/>
            <a:ext cx="6680144" cy="1272015"/>
          </a:xfrm>
          <a:prstGeom prst="rect">
            <a:avLst/>
          </a:prstGeom>
        </p:spPr>
        <p:txBody>
          <a:bodyPr lIns="0" tIns="0" rIns="0" bIns="0" rtlCol="0" anchor="t">
            <a:spAutoFit/>
          </a:bodyPr>
          <a:lstStyle/>
          <a:p>
            <a:pPr algn="l">
              <a:lnSpc>
                <a:spcPts val="4915"/>
              </a:lnSpc>
            </a:pPr>
            <a:r>
              <a:rPr lang="en-US" sz="4800" b="1" spc="-54" dirty="0">
                <a:solidFill>
                  <a:srgbClr val="FAFAFA"/>
                </a:solidFill>
                <a:latin typeface="Poppins Bold"/>
                <a:ea typeface="Poppins Bold"/>
                <a:cs typeface="Poppins Bold"/>
                <a:sym typeface="Poppins Bold"/>
              </a:rPr>
              <a:t>THE ROLE OF AI — CLEARLY BOUNDED</a:t>
            </a:r>
          </a:p>
        </p:txBody>
      </p:sp>
      <p:sp>
        <p:nvSpPr>
          <p:cNvPr id="27" name="TextBox 7"/>
          <p:cNvSpPr txBox="1"/>
          <p:nvPr/>
        </p:nvSpPr>
        <p:spPr>
          <a:xfrm>
            <a:off x="1219200" y="4457700"/>
            <a:ext cx="2428130" cy="3231654"/>
          </a:xfrm>
          <a:prstGeom prst="rect">
            <a:avLst/>
          </a:prstGeom>
        </p:spPr>
        <p:txBody>
          <a:bodyPr wrap="square" lIns="0" tIns="0" rIns="0" bIns="0" rtlCol="0" anchor="t">
            <a:spAutoFit/>
          </a:bodyPr>
          <a:lstStyle/>
          <a:p>
            <a:pPr algn="just">
              <a:lnSpc>
                <a:spcPts val="1848"/>
              </a:lnSpc>
            </a:pPr>
            <a:r>
              <a:rPr lang="en-US" sz="2400" b="1" dirty="0">
                <a:solidFill>
                  <a:srgbClr val="FAFAFA"/>
                </a:solidFill>
                <a:latin typeface="Poppins Light"/>
                <a:ea typeface="Poppins Light"/>
                <a:cs typeface="Poppins Light"/>
                <a:sym typeface="Poppins Light"/>
              </a:rPr>
              <a:t>AI Does: </a:t>
            </a:r>
            <a:endParaRPr lang="en-US" sz="2400" b="1" dirty="0" smtClean="0">
              <a:solidFill>
                <a:srgbClr val="FAFAFA"/>
              </a:solidFill>
              <a:latin typeface="Poppins Light"/>
              <a:ea typeface="Poppins Light"/>
              <a:cs typeface="Poppins Light"/>
              <a:sym typeface="Poppins Light"/>
            </a:endParaRPr>
          </a:p>
          <a:p>
            <a:pPr algn="just">
              <a:lnSpc>
                <a:spcPts val="1848"/>
              </a:lnSpc>
            </a:pPr>
            <a:endParaRPr lang="en-US" sz="2400" b="1" dirty="0" smtClean="0">
              <a:solidFill>
                <a:srgbClr val="FAFAFA"/>
              </a:solidFill>
              <a:latin typeface="Poppins Light"/>
              <a:ea typeface="Poppins Light"/>
              <a:cs typeface="Poppins Light"/>
              <a:sym typeface="Poppins Light"/>
            </a:endParaRPr>
          </a:p>
          <a:p>
            <a:pPr algn="just">
              <a:lnSpc>
                <a:spcPts val="1848"/>
              </a:lnSpc>
              <a:buFont typeface="Arial" pitchFamily="34" charset="0"/>
              <a:buChar char="•"/>
            </a:pPr>
            <a:r>
              <a:rPr lang="en-US" sz="2400" b="1" dirty="0" smtClean="0">
                <a:solidFill>
                  <a:srgbClr val="FAFAFA"/>
                </a:solidFill>
                <a:latin typeface="Microsoft Yi Baiti" pitchFamily="66" charset="0"/>
                <a:ea typeface="Microsoft Yi Baiti" pitchFamily="66" charset="0"/>
                <a:cs typeface="Poppins Light"/>
                <a:sym typeface="Poppins Light"/>
              </a:rPr>
              <a:t>OCR </a:t>
            </a:r>
            <a:r>
              <a:rPr lang="en-US" sz="2400" b="1" dirty="0">
                <a:solidFill>
                  <a:srgbClr val="FAFAFA"/>
                </a:solidFill>
                <a:latin typeface="Microsoft Yi Baiti" pitchFamily="66" charset="0"/>
                <a:ea typeface="Microsoft Yi Baiti" pitchFamily="66" charset="0"/>
                <a:cs typeface="Poppins Light"/>
                <a:sym typeface="Poppins Light"/>
              </a:rPr>
              <a:t>and structured field </a:t>
            </a:r>
            <a:r>
              <a:rPr lang="en-US" sz="2400" b="1" dirty="0" smtClean="0">
                <a:solidFill>
                  <a:srgbClr val="FAFAFA"/>
                </a:solidFill>
                <a:latin typeface="Microsoft Yi Baiti" pitchFamily="66" charset="0"/>
                <a:ea typeface="Microsoft Yi Baiti" pitchFamily="66" charset="0"/>
                <a:cs typeface="Poppins Light"/>
                <a:sym typeface="Poppins Light"/>
              </a:rPr>
              <a:t>extraction</a:t>
            </a:r>
          </a:p>
          <a:p>
            <a:pPr algn="just">
              <a:lnSpc>
                <a:spcPts val="1848"/>
              </a:lnSpc>
            </a:pPr>
            <a:endParaRPr lang="en-US" sz="2400" b="1" dirty="0" smtClean="0">
              <a:solidFill>
                <a:srgbClr val="FAFAFA"/>
              </a:solidFill>
              <a:latin typeface="Microsoft Yi Baiti" pitchFamily="66" charset="0"/>
              <a:ea typeface="Microsoft Yi Baiti" pitchFamily="66" charset="0"/>
              <a:cs typeface="Poppins Light"/>
              <a:sym typeface="Poppins Light"/>
            </a:endParaRPr>
          </a:p>
          <a:p>
            <a:pPr algn="just">
              <a:lnSpc>
                <a:spcPts val="1848"/>
              </a:lnSpc>
              <a:buFont typeface="Arial" pitchFamily="34" charset="0"/>
              <a:buChar char="•"/>
            </a:pPr>
            <a:r>
              <a:rPr lang="en-US" sz="2400" b="1" dirty="0" smtClean="0">
                <a:solidFill>
                  <a:srgbClr val="FAFAFA"/>
                </a:solidFill>
                <a:latin typeface="Microsoft Yi Baiti" pitchFamily="66" charset="0"/>
                <a:ea typeface="Microsoft Yi Baiti" pitchFamily="66" charset="0"/>
                <a:cs typeface="Poppins Light"/>
                <a:sym typeface="Poppins Light"/>
              </a:rPr>
              <a:t>M</a:t>
            </a:r>
            <a:r>
              <a:rPr lang="en-US" sz="2400" b="1" dirty="0" smtClean="0">
                <a:solidFill>
                  <a:srgbClr val="FAFAFA"/>
                </a:solidFill>
                <a:latin typeface="Microsoft Yi Baiti" pitchFamily="66" charset="0"/>
                <a:ea typeface="Microsoft Yi Baiti" pitchFamily="66" charset="0"/>
                <a:cs typeface="Poppins Light"/>
                <a:sym typeface="Poppins Light"/>
              </a:rPr>
              <a:t>issing-document detection</a:t>
            </a:r>
          </a:p>
          <a:p>
            <a:pPr algn="just">
              <a:lnSpc>
                <a:spcPts val="1848"/>
              </a:lnSpc>
            </a:pPr>
            <a:endParaRPr lang="en-US" sz="2400" b="1" dirty="0" smtClean="0">
              <a:solidFill>
                <a:srgbClr val="FAFAFA"/>
              </a:solidFill>
              <a:latin typeface="Microsoft Yi Baiti" pitchFamily="66" charset="0"/>
              <a:ea typeface="Microsoft Yi Baiti" pitchFamily="66" charset="0"/>
              <a:cs typeface="Poppins Light"/>
              <a:sym typeface="Poppins Light"/>
            </a:endParaRPr>
          </a:p>
          <a:p>
            <a:pPr algn="just">
              <a:lnSpc>
                <a:spcPts val="1848"/>
              </a:lnSpc>
              <a:buFont typeface="Arial" pitchFamily="34" charset="0"/>
              <a:buChar char="•"/>
            </a:pPr>
            <a:r>
              <a:rPr lang="en-US" sz="2400" b="1" dirty="0" smtClean="0">
                <a:solidFill>
                  <a:srgbClr val="FAFAFA"/>
                </a:solidFill>
                <a:latin typeface="Microsoft Yi Baiti" pitchFamily="66" charset="0"/>
                <a:ea typeface="Microsoft Yi Baiti" pitchFamily="66" charset="0"/>
                <a:cs typeface="Poppins Light"/>
                <a:sym typeface="Poppins Light"/>
              </a:rPr>
              <a:t>I</a:t>
            </a:r>
            <a:r>
              <a:rPr lang="en-US" sz="2400" b="1" dirty="0" smtClean="0">
                <a:solidFill>
                  <a:srgbClr val="FAFAFA"/>
                </a:solidFill>
                <a:latin typeface="Microsoft Yi Baiti" pitchFamily="66" charset="0"/>
                <a:ea typeface="Microsoft Yi Baiti" pitchFamily="66" charset="0"/>
                <a:cs typeface="Poppins Light"/>
                <a:sym typeface="Poppins Light"/>
              </a:rPr>
              <a:t>nstitution-specific </a:t>
            </a:r>
            <a:r>
              <a:rPr lang="en-US" sz="2400" b="1" dirty="0">
                <a:solidFill>
                  <a:srgbClr val="FAFAFA"/>
                </a:solidFill>
                <a:latin typeface="Microsoft Yi Baiti" pitchFamily="66" charset="0"/>
                <a:ea typeface="Microsoft Yi Baiti" pitchFamily="66" charset="0"/>
                <a:cs typeface="Poppins Light"/>
                <a:sym typeface="Poppins Light"/>
              </a:rPr>
              <a:t>checklist </a:t>
            </a:r>
            <a:r>
              <a:rPr lang="en-US" sz="2400" b="1" dirty="0" smtClean="0">
                <a:solidFill>
                  <a:srgbClr val="FAFAFA"/>
                </a:solidFill>
                <a:latin typeface="Microsoft Yi Baiti" pitchFamily="66" charset="0"/>
                <a:ea typeface="Microsoft Yi Baiti" pitchFamily="66" charset="0"/>
                <a:cs typeface="Poppins Light"/>
                <a:sym typeface="Poppins Light"/>
              </a:rPr>
              <a:t>suggestions</a:t>
            </a:r>
          </a:p>
          <a:p>
            <a:pPr algn="just">
              <a:lnSpc>
                <a:spcPts val="1848"/>
              </a:lnSpc>
            </a:pPr>
            <a:endParaRPr lang="en-US" sz="2400" b="1" dirty="0" smtClean="0">
              <a:solidFill>
                <a:srgbClr val="FAFAFA"/>
              </a:solidFill>
              <a:latin typeface="Microsoft Yi Baiti" pitchFamily="66" charset="0"/>
              <a:ea typeface="Microsoft Yi Baiti" pitchFamily="66" charset="0"/>
              <a:cs typeface="Poppins Light"/>
              <a:sym typeface="Poppins Light"/>
            </a:endParaRPr>
          </a:p>
          <a:p>
            <a:pPr algn="just">
              <a:lnSpc>
                <a:spcPts val="1848"/>
              </a:lnSpc>
              <a:buFont typeface="Arial" pitchFamily="34" charset="0"/>
              <a:buChar char="•"/>
            </a:pPr>
            <a:r>
              <a:rPr lang="en-US" sz="2400" b="1" dirty="0" smtClean="0">
                <a:solidFill>
                  <a:srgbClr val="FAFAFA"/>
                </a:solidFill>
                <a:latin typeface="Microsoft Yi Baiti" pitchFamily="66" charset="0"/>
                <a:ea typeface="Microsoft Yi Baiti" pitchFamily="66" charset="0"/>
                <a:cs typeface="Poppins Light"/>
                <a:sym typeface="Poppins Light"/>
              </a:rPr>
              <a:t>Arranging </a:t>
            </a:r>
            <a:r>
              <a:rPr lang="en-US" sz="2400" b="1" dirty="0">
                <a:solidFill>
                  <a:srgbClr val="FAFAFA"/>
                </a:solidFill>
                <a:latin typeface="Microsoft Yi Baiti" pitchFamily="66" charset="0"/>
                <a:ea typeface="Microsoft Yi Baiti" pitchFamily="66" charset="0"/>
                <a:cs typeface="Poppins Light"/>
                <a:sym typeface="Poppins Light"/>
              </a:rPr>
              <a:t>approved information into dossier format.</a:t>
            </a:r>
          </a:p>
        </p:txBody>
      </p:sp>
      <p:cxnSp>
        <p:nvCxnSpPr>
          <p:cNvPr id="29" name="Straight Connector 28"/>
          <p:cNvCxnSpPr/>
          <p:nvPr/>
        </p:nvCxnSpPr>
        <p:spPr>
          <a:xfrm>
            <a:off x="4038600" y="4457700"/>
            <a:ext cx="0" cy="3352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4343400" y="4419243"/>
            <a:ext cx="2514600" cy="3554819"/>
          </a:xfrm>
          <a:prstGeom prst="rect">
            <a:avLst/>
          </a:prstGeom>
        </p:spPr>
        <p:txBody>
          <a:bodyPr wrap="square">
            <a:spAutoFit/>
          </a:bodyPr>
          <a:lstStyle/>
          <a:p>
            <a:pPr algn="just">
              <a:lnSpc>
                <a:spcPts val="1848"/>
              </a:lnSpc>
            </a:pPr>
            <a:r>
              <a:rPr lang="en-US" sz="2400" b="1" dirty="0" smtClean="0">
                <a:solidFill>
                  <a:srgbClr val="FAFAFA"/>
                </a:solidFill>
                <a:latin typeface="Poppins Light"/>
                <a:ea typeface="Poppins Light"/>
                <a:cs typeface="Poppins Light"/>
                <a:sym typeface="Poppins Light"/>
              </a:rPr>
              <a:t>AI Never Does</a:t>
            </a:r>
            <a:r>
              <a:rPr lang="en-US" sz="2400" b="1" dirty="0" smtClean="0">
                <a:solidFill>
                  <a:srgbClr val="FAFAFA"/>
                </a:solidFill>
                <a:latin typeface="Poppins Light"/>
                <a:ea typeface="Poppins Light"/>
                <a:cs typeface="Poppins Light"/>
                <a:sym typeface="Poppins Light"/>
              </a:rPr>
              <a:t>:</a:t>
            </a:r>
          </a:p>
          <a:p>
            <a:pPr algn="just">
              <a:lnSpc>
                <a:spcPts val="1848"/>
              </a:lnSpc>
              <a:buFont typeface="Arial" pitchFamily="34" charset="0"/>
              <a:buChar char="•"/>
            </a:pPr>
            <a:endParaRPr lang="en-US" sz="2400" b="1" dirty="0" smtClean="0">
              <a:solidFill>
                <a:srgbClr val="FAFAFA"/>
              </a:solidFill>
              <a:latin typeface="Poppins Light"/>
              <a:ea typeface="Poppins Light"/>
              <a:cs typeface="Poppins Light"/>
              <a:sym typeface="Poppins Light"/>
            </a:endParaRPr>
          </a:p>
          <a:p>
            <a:pPr algn="just">
              <a:lnSpc>
                <a:spcPts val="1848"/>
              </a:lnSpc>
              <a:buFont typeface="Arial" pitchFamily="34" charset="0"/>
              <a:buChar char="•"/>
            </a:pPr>
            <a:r>
              <a:rPr lang="en-US" sz="2400" b="1" dirty="0" smtClean="0">
                <a:solidFill>
                  <a:srgbClr val="FAFAFA"/>
                </a:solidFill>
                <a:latin typeface="Microsoft Yi Baiti" pitchFamily="66" charset="0"/>
                <a:ea typeface="Microsoft Yi Baiti" pitchFamily="66" charset="0"/>
                <a:cs typeface="Poppins Light"/>
                <a:sym typeface="Poppins Light"/>
              </a:rPr>
              <a:t>Final certification of death</a:t>
            </a:r>
          </a:p>
          <a:p>
            <a:pPr algn="just">
              <a:lnSpc>
                <a:spcPts val="1848"/>
              </a:lnSpc>
              <a:buFont typeface="Arial" pitchFamily="34" charset="0"/>
              <a:buChar char="•"/>
            </a:pPr>
            <a:endParaRPr lang="en-US" sz="2400" b="1" dirty="0" smtClean="0">
              <a:solidFill>
                <a:srgbClr val="FAFAFA"/>
              </a:solidFill>
              <a:latin typeface="Microsoft Yi Baiti" pitchFamily="66" charset="0"/>
              <a:ea typeface="Microsoft Yi Baiti" pitchFamily="66" charset="0"/>
              <a:cs typeface="Poppins Light"/>
              <a:sym typeface="Poppins Light"/>
            </a:endParaRPr>
          </a:p>
          <a:p>
            <a:pPr algn="just">
              <a:lnSpc>
                <a:spcPts val="1848"/>
              </a:lnSpc>
              <a:buFont typeface="Arial" pitchFamily="34" charset="0"/>
              <a:buChar char="•"/>
            </a:pPr>
            <a:r>
              <a:rPr lang="en-US" sz="2400" b="1" dirty="0" smtClean="0">
                <a:solidFill>
                  <a:srgbClr val="FAFAFA"/>
                </a:solidFill>
                <a:latin typeface="Microsoft Yi Baiti" pitchFamily="66" charset="0"/>
                <a:ea typeface="Microsoft Yi Baiti" pitchFamily="66" charset="0"/>
                <a:cs typeface="Poppins Light"/>
                <a:sym typeface="Poppins Light"/>
              </a:rPr>
              <a:t>D</a:t>
            </a:r>
            <a:r>
              <a:rPr lang="en-US" sz="2400" b="1" dirty="0" smtClean="0">
                <a:solidFill>
                  <a:srgbClr val="FAFAFA"/>
                </a:solidFill>
                <a:latin typeface="Microsoft Yi Baiti" pitchFamily="66" charset="0"/>
                <a:ea typeface="Microsoft Yi Baiti" pitchFamily="66" charset="0"/>
                <a:cs typeface="Poppins Light"/>
                <a:sym typeface="Poppins Light"/>
              </a:rPr>
              <a:t>ecide </a:t>
            </a:r>
            <a:r>
              <a:rPr lang="en-US" sz="2400" b="1" dirty="0" smtClean="0">
                <a:solidFill>
                  <a:srgbClr val="FAFAFA"/>
                </a:solidFill>
                <a:latin typeface="Microsoft Yi Baiti" pitchFamily="66" charset="0"/>
                <a:ea typeface="Microsoft Yi Baiti" pitchFamily="66" charset="0"/>
                <a:cs typeface="Poppins Light"/>
                <a:sym typeface="Poppins Light"/>
              </a:rPr>
              <a:t>a legal heir or </a:t>
            </a:r>
            <a:r>
              <a:rPr lang="en-US" sz="2400" b="1" dirty="0" smtClean="0">
                <a:solidFill>
                  <a:srgbClr val="FAFAFA"/>
                </a:solidFill>
                <a:latin typeface="Microsoft Yi Baiti" pitchFamily="66" charset="0"/>
                <a:ea typeface="Microsoft Yi Baiti" pitchFamily="66" charset="0"/>
                <a:cs typeface="Poppins Light"/>
                <a:sym typeface="Poppins Light"/>
              </a:rPr>
              <a:t>nominee</a:t>
            </a:r>
          </a:p>
          <a:p>
            <a:pPr algn="just">
              <a:lnSpc>
                <a:spcPts val="1848"/>
              </a:lnSpc>
              <a:buFont typeface="Arial" pitchFamily="34" charset="0"/>
              <a:buChar char="•"/>
            </a:pPr>
            <a:endParaRPr lang="en-US" sz="2400" b="1" dirty="0" smtClean="0">
              <a:solidFill>
                <a:srgbClr val="FAFAFA"/>
              </a:solidFill>
              <a:latin typeface="Microsoft Yi Baiti" pitchFamily="66" charset="0"/>
              <a:ea typeface="Microsoft Yi Baiti" pitchFamily="66" charset="0"/>
              <a:cs typeface="Poppins Light"/>
              <a:sym typeface="Poppins Light"/>
            </a:endParaRPr>
          </a:p>
          <a:p>
            <a:pPr algn="just">
              <a:lnSpc>
                <a:spcPts val="1848"/>
              </a:lnSpc>
              <a:buFont typeface="Arial" pitchFamily="34" charset="0"/>
              <a:buChar char="•"/>
            </a:pPr>
            <a:r>
              <a:rPr lang="en-US" sz="2400" b="1" dirty="0" smtClean="0">
                <a:solidFill>
                  <a:srgbClr val="FAFAFA"/>
                </a:solidFill>
                <a:latin typeface="Microsoft Yi Baiti" pitchFamily="66" charset="0"/>
                <a:ea typeface="Microsoft Yi Baiti" pitchFamily="66" charset="0"/>
                <a:cs typeface="Poppins Light"/>
                <a:sym typeface="Poppins Light"/>
              </a:rPr>
              <a:t>A</a:t>
            </a:r>
            <a:r>
              <a:rPr lang="en-US" sz="2400" b="1" dirty="0" smtClean="0">
                <a:solidFill>
                  <a:srgbClr val="FAFAFA"/>
                </a:solidFill>
                <a:latin typeface="Microsoft Yi Baiti" pitchFamily="66" charset="0"/>
                <a:ea typeface="Microsoft Yi Baiti" pitchFamily="66" charset="0"/>
                <a:cs typeface="Poppins Light"/>
                <a:sym typeface="Poppins Light"/>
              </a:rPr>
              <a:t>pprove </a:t>
            </a:r>
            <a:r>
              <a:rPr lang="en-US" sz="2400" b="1" dirty="0" smtClean="0">
                <a:solidFill>
                  <a:srgbClr val="FAFAFA"/>
                </a:solidFill>
                <a:latin typeface="Microsoft Yi Baiti" pitchFamily="66" charset="0"/>
                <a:ea typeface="Microsoft Yi Baiti" pitchFamily="66" charset="0"/>
                <a:cs typeface="Poppins Light"/>
                <a:sym typeface="Poppins Light"/>
              </a:rPr>
              <a:t>an automatic </a:t>
            </a:r>
            <a:r>
              <a:rPr lang="en-US" sz="2400" b="1" dirty="0" smtClean="0">
                <a:solidFill>
                  <a:srgbClr val="FAFAFA"/>
                </a:solidFill>
                <a:latin typeface="Microsoft Yi Baiti" pitchFamily="66" charset="0"/>
                <a:ea typeface="Microsoft Yi Baiti" pitchFamily="66" charset="0"/>
                <a:cs typeface="Poppins Light"/>
                <a:sym typeface="Poppins Light"/>
              </a:rPr>
              <a:t>release</a:t>
            </a:r>
          </a:p>
          <a:p>
            <a:pPr algn="just">
              <a:lnSpc>
                <a:spcPts val="1848"/>
              </a:lnSpc>
              <a:buFont typeface="Arial" pitchFamily="34" charset="0"/>
              <a:buChar char="•"/>
            </a:pPr>
            <a:endParaRPr lang="en-US" sz="2400" b="1" dirty="0" smtClean="0">
              <a:solidFill>
                <a:srgbClr val="FAFAFA"/>
              </a:solidFill>
              <a:latin typeface="Microsoft Yi Baiti" pitchFamily="66" charset="0"/>
              <a:ea typeface="Microsoft Yi Baiti" pitchFamily="66" charset="0"/>
              <a:cs typeface="Poppins Light"/>
              <a:sym typeface="Poppins Light"/>
            </a:endParaRPr>
          </a:p>
          <a:p>
            <a:pPr algn="just">
              <a:lnSpc>
                <a:spcPts val="1848"/>
              </a:lnSpc>
              <a:buFont typeface="Arial" pitchFamily="34" charset="0"/>
              <a:buChar char="•"/>
            </a:pPr>
            <a:r>
              <a:rPr lang="en-US" sz="2400" b="1" dirty="0" smtClean="0">
                <a:solidFill>
                  <a:srgbClr val="FAFAFA"/>
                </a:solidFill>
                <a:latin typeface="Microsoft Yi Baiti" pitchFamily="66" charset="0"/>
                <a:ea typeface="Microsoft Yi Baiti" pitchFamily="66" charset="0"/>
                <a:cs typeface="Poppins Light"/>
                <a:sym typeface="Poppins Light"/>
              </a:rPr>
              <a:t>D</a:t>
            </a:r>
            <a:r>
              <a:rPr lang="en-US" sz="2400" b="1" dirty="0" smtClean="0">
                <a:solidFill>
                  <a:srgbClr val="FAFAFA"/>
                </a:solidFill>
                <a:latin typeface="Microsoft Yi Baiti" pitchFamily="66" charset="0"/>
                <a:ea typeface="Microsoft Yi Baiti" pitchFamily="66" charset="0"/>
                <a:cs typeface="Poppins Light"/>
                <a:sym typeface="Poppins Light"/>
              </a:rPr>
              <a:t>eclare </a:t>
            </a:r>
            <a:r>
              <a:rPr lang="en-US" sz="2400" b="1" dirty="0" smtClean="0">
                <a:solidFill>
                  <a:srgbClr val="FAFAFA"/>
                </a:solidFill>
                <a:latin typeface="Microsoft Yi Baiti" pitchFamily="66" charset="0"/>
                <a:ea typeface="Microsoft Yi Baiti" pitchFamily="66" charset="0"/>
                <a:cs typeface="Poppins Light"/>
                <a:sym typeface="Poppins Light"/>
              </a:rPr>
              <a:t>a document </a:t>
            </a:r>
            <a:r>
              <a:rPr lang="en-US" sz="2400" b="1" dirty="0" smtClean="0">
                <a:solidFill>
                  <a:srgbClr val="FAFAFA"/>
                </a:solidFill>
                <a:latin typeface="Microsoft Yi Baiti" pitchFamily="66" charset="0"/>
                <a:ea typeface="Microsoft Yi Baiti" pitchFamily="66" charset="0"/>
                <a:cs typeface="Poppins Light"/>
                <a:sym typeface="Poppins Light"/>
              </a:rPr>
              <a:t>genuine— </a:t>
            </a:r>
            <a:r>
              <a:rPr lang="en-US" sz="2400" b="1" dirty="0" smtClean="0">
                <a:solidFill>
                  <a:srgbClr val="FAFAFA"/>
                </a:solidFill>
                <a:latin typeface="Microsoft Yi Baiti" pitchFamily="66" charset="0"/>
                <a:ea typeface="Microsoft Yi Baiti" pitchFamily="66" charset="0"/>
                <a:cs typeface="Poppins Light"/>
                <a:sym typeface="Poppins Light"/>
              </a:rPr>
              <a:t>every one of these needs a human</a:t>
            </a:r>
            <a:r>
              <a:rPr lang="en-US" sz="2400" b="1" dirty="0" smtClean="0">
                <a:solidFill>
                  <a:srgbClr val="FAFAFA"/>
                </a:solidFill>
                <a:latin typeface="Microsoft Yi Baiti" pitchFamily="66" charset="0"/>
                <a:ea typeface="Microsoft Yi Baiti" pitchFamily="66" charset="0"/>
                <a:cs typeface="Poppins Light"/>
                <a:sym typeface="Poppins Light"/>
              </a:rPr>
              <a:t>.</a:t>
            </a:r>
            <a:endParaRPr lang="en-US" sz="2400" b="1" dirty="0">
              <a:solidFill>
                <a:srgbClr val="FAFAFA"/>
              </a:solidFill>
              <a:latin typeface="Microsoft Yi Baiti" pitchFamily="66" charset="0"/>
              <a:ea typeface="Microsoft Yi Baiti" pitchFamily="66" charset="0"/>
              <a:cs typeface="Poppins Light"/>
              <a:sym typeface="Poppi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
          <p:cNvGrpSpPr/>
          <p:nvPr/>
        </p:nvGrpSpPr>
        <p:grpSpPr>
          <a:xfrm>
            <a:off x="0" y="0"/>
            <a:ext cx="18288000" cy="10287000"/>
            <a:chOff x="0" y="0"/>
            <a:chExt cx="2478722" cy="1326972"/>
          </a:xfrm>
        </p:grpSpPr>
        <p:sp>
          <p:nvSpPr>
            <p:cNvPr id="23" name="Freeform 3"/>
            <p:cNvSpPr/>
            <p:nvPr/>
          </p:nvSpPr>
          <p:spPr>
            <a:xfrm>
              <a:off x="0" y="0"/>
              <a:ext cx="2478722" cy="1326972"/>
            </a:xfrm>
            <a:custGeom>
              <a:avLst/>
              <a:gdLst/>
              <a:ahLst/>
              <a:cxnLst/>
              <a:rect l="l" t="t" r="r" b="b"/>
              <a:pathLst>
                <a:path w="2478722" h="1326972">
                  <a:moveTo>
                    <a:pt x="19864" y="0"/>
                  </a:moveTo>
                  <a:lnTo>
                    <a:pt x="2458857" y="0"/>
                  </a:lnTo>
                  <a:cubicBezTo>
                    <a:pt x="2469828" y="0"/>
                    <a:pt x="2478722" y="8893"/>
                    <a:pt x="2478722" y="19864"/>
                  </a:cubicBezTo>
                  <a:lnTo>
                    <a:pt x="2478722" y="1307108"/>
                  </a:lnTo>
                  <a:cubicBezTo>
                    <a:pt x="2478722" y="1318079"/>
                    <a:pt x="2469828" y="1326972"/>
                    <a:pt x="2458857" y="1326972"/>
                  </a:cubicBezTo>
                  <a:lnTo>
                    <a:pt x="19864" y="1326972"/>
                  </a:lnTo>
                  <a:cubicBezTo>
                    <a:pt x="8893" y="1326972"/>
                    <a:pt x="0" y="1318079"/>
                    <a:pt x="0" y="1307108"/>
                  </a:cubicBezTo>
                  <a:lnTo>
                    <a:pt x="0" y="19864"/>
                  </a:lnTo>
                  <a:cubicBezTo>
                    <a:pt x="0" y="8893"/>
                    <a:pt x="8893" y="0"/>
                    <a:pt x="19864" y="0"/>
                  </a:cubicBezTo>
                  <a:close/>
                </a:path>
              </a:pathLst>
            </a:custGeom>
            <a:blipFill>
              <a:blip r:embed="rId2" cstate="print"/>
              <a:stretch>
                <a:fillRect t="-89969" b="-89969"/>
              </a:stretch>
            </a:blipFill>
            <a:ln w="19050" cap="rnd">
              <a:solidFill>
                <a:srgbClr val="FFFFFF"/>
              </a:solidFill>
              <a:prstDash val="solid"/>
              <a:round/>
            </a:ln>
          </p:spPr>
        </p:sp>
      </p:grpSp>
      <p:grpSp>
        <p:nvGrpSpPr>
          <p:cNvPr id="3" name="Group 3"/>
          <p:cNvGrpSpPr/>
          <p:nvPr/>
        </p:nvGrpSpPr>
        <p:grpSpPr>
          <a:xfrm>
            <a:off x="1028700" y="1041826"/>
            <a:ext cx="16230600" cy="897168"/>
            <a:chOff x="0" y="0"/>
            <a:chExt cx="4274726" cy="236291"/>
          </a:xfrm>
        </p:grpSpPr>
        <p:sp>
          <p:nvSpPr>
            <p:cNvPr id="4" name="Freeform 4"/>
            <p:cNvSpPr/>
            <p:nvPr/>
          </p:nvSpPr>
          <p:spPr>
            <a:xfrm>
              <a:off x="0" y="0"/>
              <a:ext cx="4274726" cy="236291"/>
            </a:xfrm>
            <a:custGeom>
              <a:avLst/>
              <a:gdLst/>
              <a:ahLst/>
              <a:cxnLst/>
              <a:rect l="l" t="t" r="r" b="b"/>
              <a:pathLst>
                <a:path w="4274726" h="236291">
                  <a:moveTo>
                    <a:pt x="47700" y="0"/>
                  </a:moveTo>
                  <a:lnTo>
                    <a:pt x="4227026" y="0"/>
                  </a:lnTo>
                  <a:cubicBezTo>
                    <a:pt x="4239677" y="0"/>
                    <a:pt x="4251809" y="5025"/>
                    <a:pt x="4260755" y="13971"/>
                  </a:cubicBezTo>
                  <a:cubicBezTo>
                    <a:pt x="4269700" y="22916"/>
                    <a:pt x="4274726" y="35049"/>
                    <a:pt x="4274726" y="47700"/>
                  </a:cubicBezTo>
                  <a:lnTo>
                    <a:pt x="4274726" y="188592"/>
                  </a:lnTo>
                  <a:cubicBezTo>
                    <a:pt x="4274726" y="201242"/>
                    <a:pt x="4269700" y="213375"/>
                    <a:pt x="4260755" y="222320"/>
                  </a:cubicBezTo>
                  <a:cubicBezTo>
                    <a:pt x="4251809" y="231266"/>
                    <a:pt x="4239677" y="236291"/>
                    <a:pt x="4227026" y="236291"/>
                  </a:cubicBezTo>
                  <a:lnTo>
                    <a:pt x="47700" y="236291"/>
                  </a:lnTo>
                  <a:cubicBezTo>
                    <a:pt x="35049" y="236291"/>
                    <a:pt x="22916" y="231266"/>
                    <a:pt x="13971" y="222320"/>
                  </a:cubicBezTo>
                  <a:cubicBezTo>
                    <a:pt x="5025" y="213375"/>
                    <a:pt x="0" y="201242"/>
                    <a:pt x="0" y="188592"/>
                  </a:cubicBezTo>
                  <a:lnTo>
                    <a:pt x="0" y="47700"/>
                  </a:lnTo>
                  <a:cubicBezTo>
                    <a:pt x="0" y="35049"/>
                    <a:pt x="5025" y="22916"/>
                    <a:pt x="13971" y="13971"/>
                  </a:cubicBezTo>
                  <a:cubicBezTo>
                    <a:pt x="22916" y="5025"/>
                    <a:pt x="35049" y="0"/>
                    <a:pt x="47700" y="0"/>
                  </a:cubicBezTo>
                  <a:close/>
                </a:path>
              </a:pathLst>
            </a:custGeom>
            <a:gradFill rotWithShape="1">
              <a:gsLst>
                <a:gs pos="0">
                  <a:srgbClr val="6E001E">
                    <a:alpha val="66000"/>
                  </a:srgbClr>
                </a:gs>
                <a:gs pos="50000">
                  <a:srgbClr val="65204C">
                    <a:alpha val="66000"/>
                  </a:srgbClr>
                </a:gs>
                <a:gs pos="100000">
                  <a:srgbClr val="69465D">
                    <a:alpha val="66000"/>
                  </a:srgbClr>
                </a:gs>
              </a:gsLst>
              <a:lin ang="2700000"/>
            </a:gradFill>
            <a:ln w="19050" cap="rnd">
              <a:solidFill>
                <a:srgbClr val="FFFFFF">
                  <a:alpha val="65882"/>
                </a:srgbClr>
              </a:solidFill>
              <a:prstDash val="solid"/>
              <a:round/>
            </a:ln>
          </p:spPr>
        </p:sp>
        <p:sp>
          <p:nvSpPr>
            <p:cNvPr id="5" name="TextBox 5"/>
            <p:cNvSpPr txBox="1"/>
            <p:nvPr/>
          </p:nvSpPr>
          <p:spPr>
            <a:xfrm>
              <a:off x="0" y="-57150"/>
              <a:ext cx="4274726" cy="293441"/>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028700" y="4183181"/>
            <a:ext cx="16230600" cy="5028715"/>
            <a:chOff x="0" y="0"/>
            <a:chExt cx="4274726" cy="1324435"/>
          </a:xfrm>
        </p:grpSpPr>
        <p:sp>
          <p:nvSpPr>
            <p:cNvPr id="7" name="Freeform 7"/>
            <p:cNvSpPr/>
            <p:nvPr/>
          </p:nvSpPr>
          <p:spPr>
            <a:xfrm>
              <a:off x="0" y="0"/>
              <a:ext cx="4274726" cy="1324435"/>
            </a:xfrm>
            <a:custGeom>
              <a:avLst/>
              <a:gdLst/>
              <a:ahLst/>
              <a:cxnLst/>
              <a:rect l="l" t="t" r="r" b="b"/>
              <a:pathLst>
                <a:path w="4274726" h="1324435">
                  <a:moveTo>
                    <a:pt x="13356" y="0"/>
                  </a:moveTo>
                  <a:lnTo>
                    <a:pt x="4261370" y="0"/>
                  </a:lnTo>
                  <a:cubicBezTo>
                    <a:pt x="4264912" y="0"/>
                    <a:pt x="4268309" y="1407"/>
                    <a:pt x="4270814" y="3912"/>
                  </a:cubicBezTo>
                  <a:cubicBezTo>
                    <a:pt x="4273319" y="6417"/>
                    <a:pt x="4274726" y="9814"/>
                    <a:pt x="4274726" y="13356"/>
                  </a:cubicBezTo>
                  <a:lnTo>
                    <a:pt x="4274726" y="1311079"/>
                  </a:lnTo>
                  <a:cubicBezTo>
                    <a:pt x="4274726" y="1314622"/>
                    <a:pt x="4273319" y="1318019"/>
                    <a:pt x="4270814" y="1320523"/>
                  </a:cubicBezTo>
                  <a:cubicBezTo>
                    <a:pt x="4268309" y="1323028"/>
                    <a:pt x="4264912" y="1324435"/>
                    <a:pt x="4261370" y="1324435"/>
                  </a:cubicBezTo>
                  <a:lnTo>
                    <a:pt x="13356" y="1324435"/>
                  </a:lnTo>
                  <a:cubicBezTo>
                    <a:pt x="9814" y="1324435"/>
                    <a:pt x="6417" y="1323028"/>
                    <a:pt x="3912" y="1320523"/>
                  </a:cubicBezTo>
                  <a:cubicBezTo>
                    <a:pt x="1407" y="1318019"/>
                    <a:pt x="0" y="1314622"/>
                    <a:pt x="0" y="1311079"/>
                  </a:cubicBezTo>
                  <a:lnTo>
                    <a:pt x="0" y="13356"/>
                  </a:lnTo>
                  <a:cubicBezTo>
                    <a:pt x="0" y="9814"/>
                    <a:pt x="1407" y="6417"/>
                    <a:pt x="3912" y="3912"/>
                  </a:cubicBezTo>
                  <a:cubicBezTo>
                    <a:pt x="6417" y="1407"/>
                    <a:pt x="9814" y="0"/>
                    <a:pt x="13356" y="0"/>
                  </a:cubicBezTo>
                  <a:close/>
                </a:path>
              </a:pathLst>
            </a:custGeom>
            <a:gradFill rotWithShape="1">
              <a:gsLst>
                <a:gs pos="0">
                  <a:srgbClr val="6E001E">
                    <a:alpha val="29000"/>
                  </a:srgbClr>
                </a:gs>
                <a:gs pos="50000">
                  <a:srgbClr val="3C102C">
                    <a:alpha val="29000"/>
                  </a:srgbClr>
                </a:gs>
                <a:gs pos="100000">
                  <a:srgbClr val="69465D">
                    <a:alpha val="29000"/>
                  </a:srgbClr>
                </a:gs>
              </a:gsLst>
              <a:lin ang="2700000"/>
            </a:gradFill>
            <a:ln w="19050" cap="rnd">
              <a:solidFill>
                <a:srgbClr val="FFFFFF">
                  <a:alpha val="28627"/>
                </a:srgbClr>
              </a:solidFill>
              <a:prstDash val="solid"/>
              <a:round/>
            </a:ln>
          </p:spPr>
        </p:sp>
        <p:sp>
          <p:nvSpPr>
            <p:cNvPr id="8" name="TextBox 8"/>
            <p:cNvSpPr txBox="1"/>
            <p:nvPr/>
          </p:nvSpPr>
          <p:spPr>
            <a:xfrm>
              <a:off x="0" y="-57150"/>
              <a:ext cx="4274726" cy="1381585"/>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242675" y="6583705"/>
            <a:ext cx="7687351" cy="2408931"/>
            <a:chOff x="0" y="0"/>
            <a:chExt cx="2024652" cy="634451"/>
          </a:xfrm>
        </p:grpSpPr>
        <p:sp>
          <p:nvSpPr>
            <p:cNvPr id="10" name="Freeform 10"/>
            <p:cNvSpPr/>
            <p:nvPr/>
          </p:nvSpPr>
          <p:spPr>
            <a:xfrm>
              <a:off x="0" y="0"/>
              <a:ext cx="2024652" cy="634451"/>
            </a:xfrm>
            <a:custGeom>
              <a:avLst/>
              <a:gdLst/>
              <a:ahLst/>
              <a:cxnLst/>
              <a:rect l="l" t="t" r="r" b="b"/>
              <a:pathLst>
                <a:path w="2024652" h="634451">
                  <a:moveTo>
                    <a:pt x="12085" y="0"/>
                  </a:moveTo>
                  <a:lnTo>
                    <a:pt x="2012567" y="0"/>
                  </a:lnTo>
                  <a:cubicBezTo>
                    <a:pt x="2015772" y="0"/>
                    <a:pt x="2018846" y="1273"/>
                    <a:pt x="2021112" y="3540"/>
                  </a:cubicBezTo>
                  <a:cubicBezTo>
                    <a:pt x="2023379" y="5806"/>
                    <a:pt x="2024652" y="8880"/>
                    <a:pt x="2024652" y="12085"/>
                  </a:cubicBezTo>
                  <a:lnTo>
                    <a:pt x="2024652" y="622366"/>
                  </a:lnTo>
                  <a:cubicBezTo>
                    <a:pt x="2024652" y="625571"/>
                    <a:pt x="2023379" y="628645"/>
                    <a:pt x="2021112" y="630911"/>
                  </a:cubicBezTo>
                  <a:cubicBezTo>
                    <a:pt x="2018846" y="633178"/>
                    <a:pt x="2015772" y="634451"/>
                    <a:pt x="2012567" y="634451"/>
                  </a:cubicBezTo>
                  <a:lnTo>
                    <a:pt x="12085" y="634451"/>
                  </a:lnTo>
                  <a:cubicBezTo>
                    <a:pt x="8880" y="634451"/>
                    <a:pt x="5806" y="633178"/>
                    <a:pt x="3540" y="630911"/>
                  </a:cubicBezTo>
                  <a:cubicBezTo>
                    <a:pt x="1273" y="628645"/>
                    <a:pt x="0" y="625571"/>
                    <a:pt x="0" y="622366"/>
                  </a:cubicBezTo>
                  <a:lnTo>
                    <a:pt x="0" y="12085"/>
                  </a:lnTo>
                  <a:cubicBezTo>
                    <a:pt x="0" y="8880"/>
                    <a:pt x="1273" y="5806"/>
                    <a:pt x="3540" y="3540"/>
                  </a:cubicBezTo>
                  <a:cubicBezTo>
                    <a:pt x="5806" y="1273"/>
                    <a:pt x="8880" y="0"/>
                    <a:pt x="12085" y="0"/>
                  </a:cubicBezTo>
                  <a:close/>
                </a:path>
              </a:pathLst>
            </a:custGeom>
            <a:gradFill rotWithShape="1">
              <a:gsLst>
                <a:gs pos="0">
                  <a:srgbClr val="6E001E">
                    <a:alpha val="66000"/>
                  </a:srgbClr>
                </a:gs>
                <a:gs pos="50000">
                  <a:srgbClr val="65204C">
                    <a:alpha val="66000"/>
                  </a:srgbClr>
                </a:gs>
                <a:gs pos="100000">
                  <a:srgbClr val="69465D">
                    <a:alpha val="66000"/>
                  </a:srgbClr>
                </a:gs>
              </a:gsLst>
              <a:lin ang="2700000"/>
            </a:gradFill>
            <a:ln w="19050" cap="sq">
              <a:solidFill>
                <a:srgbClr val="FFFFFF">
                  <a:alpha val="65882"/>
                </a:srgbClr>
              </a:solidFill>
              <a:prstDash val="solid"/>
              <a:miter/>
            </a:ln>
          </p:spPr>
        </p:sp>
        <p:sp>
          <p:nvSpPr>
            <p:cNvPr id="11" name="TextBox 11"/>
            <p:cNvSpPr txBox="1"/>
            <p:nvPr/>
          </p:nvSpPr>
          <p:spPr>
            <a:xfrm>
              <a:off x="0" y="-57150"/>
              <a:ext cx="2024652" cy="691601"/>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9357975" y="6583705"/>
            <a:ext cx="7687351" cy="2408931"/>
            <a:chOff x="0" y="0"/>
            <a:chExt cx="2024652" cy="634451"/>
          </a:xfrm>
        </p:grpSpPr>
        <p:sp>
          <p:nvSpPr>
            <p:cNvPr id="13" name="Freeform 13"/>
            <p:cNvSpPr/>
            <p:nvPr/>
          </p:nvSpPr>
          <p:spPr>
            <a:xfrm>
              <a:off x="0" y="0"/>
              <a:ext cx="2024652" cy="634451"/>
            </a:xfrm>
            <a:custGeom>
              <a:avLst/>
              <a:gdLst/>
              <a:ahLst/>
              <a:cxnLst/>
              <a:rect l="l" t="t" r="r" b="b"/>
              <a:pathLst>
                <a:path w="2024652" h="634451">
                  <a:moveTo>
                    <a:pt x="12085" y="0"/>
                  </a:moveTo>
                  <a:lnTo>
                    <a:pt x="2012567" y="0"/>
                  </a:lnTo>
                  <a:cubicBezTo>
                    <a:pt x="2015772" y="0"/>
                    <a:pt x="2018846" y="1273"/>
                    <a:pt x="2021112" y="3540"/>
                  </a:cubicBezTo>
                  <a:cubicBezTo>
                    <a:pt x="2023379" y="5806"/>
                    <a:pt x="2024652" y="8880"/>
                    <a:pt x="2024652" y="12085"/>
                  </a:cubicBezTo>
                  <a:lnTo>
                    <a:pt x="2024652" y="622366"/>
                  </a:lnTo>
                  <a:cubicBezTo>
                    <a:pt x="2024652" y="625571"/>
                    <a:pt x="2023379" y="628645"/>
                    <a:pt x="2021112" y="630911"/>
                  </a:cubicBezTo>
                  <a:cubicBezTo>
                    <a:pt x="2018846" y="633178"/>
                    <a:pt x="2015772" y="634451"/>
                    <a:pt x="2012567" y="634451"/>
                  </a:cubicBezTo>
                  <a:lnTo>
                    <a:pt x="12085" y="634451"/>
                  </a:lnTo>
                  <a:cubicBezTo>
                    <a:pt x="8880" y="634451"/>
                    <a:pt x="5806" y="633178"/>
                    <a:pt x="3540" y="630911"/>
                  </a:cubicBezTo>
                  <a:cubicBezTo>
                    <a:pt x="1273" y="628645"/>
                    <a:pt x="0" y="625571"/>
                    <a:pt x="0" y="622366"/>
                  </a:cubicBezTo>
                  <a:lnTo>
                    <a:pt x="0" y="12085"/>
                  </a:lnTo>
                  <a:cubicBezTo>
                    <a:pt x="0" y="8880"/>
                    <a:pt x="1273" y="5806"/>
                    <a:pt x="3540" y="3540"/>
                  </a:cubicBezTo>
                  <a:cubicBezTo>
                    <a:pt x="5806" y="1273"/>
                    <a:pt x="8880" y="0"/>
                    <a:pt x="12085" y="0"/>
                  </a:cubicBezTo>
                  <a:close/>
                </a:path>
              </a:pathLst>
            </a:custGeom>
            <a:gradFill rotWithShape="1">
              <a:gsLst>
                <a:gs pos="0">
                  <a:srgbClr val="6E001E">
                    <a:alpha val="66000"/>
                  </a:srgbClr>
                </a:gs>
                <a:gs pos="50000">
                  <a:srgbClr val="65204C">
                    <a:alpha val="66000"/>
                  </a:srgbClr>
                </a:gs>
                <a:gs pos="100000">
                  <a:srgbClr val="69465D">
                    <a:alpha val="66000"/>
                  </a:srgbClr>
                </a:gs>
              </a:gsLst>
              <a:lin ang="2700000"/>
            </a:gradFill>
            <a:ln w="19050" cap="sq">
              <a:solidFill>
                <a:srgbClr val="FFFFFF">
                  <a:alpha val="65882"/>
                </a:srgbClr>
              </a:solidFill>
              <a:prstDash val="solid"/>
              <a:miter/>
            </a:ln>
          </p:spPr>
        </p:sp>
        <p:sp>
          <p:nvSpPr>
            <p:cNvPr id="14" name="TextBox 14"/>
            <p:cNvSpPr txBox="1"/>
            <p:nvPr/>
          </p:nvSpPr>
          <p:spPr>
            <a:xfrm>
              <a:off x="0" y="-57150"/>
              <a:ext cx="2024652" cy="691601"/>
            </a:xfrm>
            <a:prstGeom prst="rect">
              <a:avLst/>
            </a:prstGeom>
          </p:spPr>
          <p:txBody>
            <a:bodyPr lIns="50800" tIns="50800" rIns="50800" bIns="50800" rtlCol="0" anchor="ctr"/>
            <a:lstStyle/>
            <a:p>
              <a:pPr algn="ctr">
                <a:lnSpc>
                  <a:spcPts val="2659"/>
                </a:lnSpc>
                <a:spcBef>
                  <a:spcPct val="0"/>
                </a:spcBef>
              </a:pPr>
              <a:endParaRPr/>
            </a:p>
          </p:txBody>
        </p:sp>
      </p:grpSp>
      <p:sp>
        <p:nvSpPr>
          <p:cNvPr id="21" name="Freeform 21"/>
          <p:cNvSpPr/>
          <p:nvPr/>
        </p:nvSpPr>
        <p:spPr>
          <a:xfrm>
            <a:off x="15697200" y="5372100"/>
            <a:ext cx="914400" cy="921113"/>
          </a:xfrm>
          <a:custGeom>
            <a:avLst/>
            <a:gdLst/>
            <a:ahLst/>
            <a:cxnLst/>
            <a:rect l="l" t="t" r="r" b="b"/>
            <a:pathLst>
              <a:path w="1225913" h="1225913">
                <a:moveTo>
                  <a:pt x="0" y="0"/>
                </a:moveTo>
                <a:lnTo>
                  <a:pt x="1225913" y="0"/>
                </a:lnTo>
                <a:lnTo>
                  <a:pt x="1225913" y="1225913"/>
                </a:lnTo>
                <a:lnTo>
                  <a:pt x="0" y="1225913"/>
                </a:lnTo>
                <a:lnTo>
                  <a:pt x="0" y="0"/>
                </a:lnTo>
                <a:close/>
              </a:path>
            </a:pathLst>
          </a:custGeom>
          <a:blipFill>
            <a:blip r:embed="rId3" cstate="print">
              <a:extLst>
                <a:ext uri="{96DAC541-7B7A-43D3-8B79-37D633B846F1}">
                  <asvg:svgBlip xmlns="" xmlns:asvg="http://schemas.microsoft.com/office/drawing/2016/SVG/main" r:embed="rId4"/>
                </a:ext>
              </a:extLst>
            </a:blip>
            <a:stretch>
              <a:fillRect/>
            </a:stretch>
          </a:blipFill>
        </p:spPr>
      </p:sp>
      <p:sp>
        <p:nvSpPr>
          <p:cNvPr id="24" name="TextBox 13"/>
          <p:cNvSpPr txBox="1"/>
          <p:nvPr/>
        </p:nvSpPr>
        <p:spPr>
          <a:xfrm>
            <a:off x="14630400" y="1356171"/>
            <a:ext cx="2248485" cy="282129"/>
          </a:xfrm>
          <a:prstGeom prst="rect">
            <a:avLst/>
          </a:prstGeom>
        </p:spPr>
        <p:txBody>
          <a:bodyPr wrap="square" lIns="0" tIns="0" rIns="0" bIns="0" rtlCol="0" anchor="t">
            <a:spAutoFit/>
          </a:bodyPr>
          <a:lstStyle/>
          <a:p>
            <a:pPr algn="r">
              <a:lnSpc>
                <a:spcPts val="2188"/>
              </a:lnSpc>
            </a:pPr>
            <a:r>
              <a:rPr lang="en-US" sz="2083" spc="-20" dirty="0" smtClean="0">
                <a:solidFill>
                  <a:srgbClr val="FFFFFF"/>
                </a:solidFill>
                <a:latin typeface="Poppins Light"/>
                <a:ea typeface="Poppins Light"/>
                <a:cs typeface="Poppins Light"/>
                <a:sym typeface="Poppins Light"/>
              </a:rPr>
              <a:t>GOOGLE CLOUD</a:t>
            </a:r>
            <a:endParaRPr lang="en-US" sz="2083" spc="-20" dirty="0">
              <a:solidFill>
                <a:srgbClr val="FFFFFF"/>
              </a:solidFill>
              <a:latin typeface="Poppins Light"/>
              <a:ea typeface="Poppins Light"/>
              <a:cs typeface="Poppins Light"/>
              <a:sym typeface="Poppins Light"/>
            </a:endParaRPr>
          </a:p>
        </p:txBody>
      </p:sp>
      <p:sp>
        <p:nvSpPr>
          <p:cNvPr id="25" name="TextBox 11"/>
          <p:cNvSpPr txBox="1"/>
          <p:nvPr/>
        </p:nvSpPr>
        <p:spPr>
          <a:xfrm>
            <a:off x="1328648" y="1356171"/>
            <a:ext cx="5453152" cy="282129"/>
          </a:xfrm>
          <a:prstGeom prst="rect">
            <a:avLst/>
          </a:prstGeom>
        </p:spPr>
        <p:txBody>
          <a:bodyPr wrap="square" lIns="0" tIns="0" rIns="0" bIns="0" rtlCol="0" anchor="t">
            <a:spAutoFit/>
          </a:bodyPr>
          <a:lstStyle/>
          <a:p>
            <a:pPr marL="449935" lvl="1" indent="-224967" algn="l">
              <a:lnSpc>
                <a:spcPts val="2188"/>
              </a:lnSpc>
              <a:buFont typeface="Arial"/>
              <a:buChar char="•"/>
            </a:pPr>
            <a:r>
              <a:rPr lang="en-US" sz="2083" spc="-20" dirty="0" smtClean="0">
                <a:solidFill>
                  <a:srgbClr val="FFFFFF"/>
                </a:solidFill>
                <a:latin typeface="Poppins Light"/>
                <a:ea typeface="Poppins Light"/>
                <a:cs typeface="Poppins Light"/>
                <a:sym typeface="Poppins Light"/>
              </a:rPr>
              <a:t>ALL INDIA AGENTIC HACKATHON 2026</a:t>
            </a:r>
            <a:endParaRPr lang="en-US" sz="2083" spc="-20" dirty="0">
              <a:solidFill>
                <a:srgbClr val="FFFFFF"/>
              </a:solidFill>
              <a:latin typeface="Poppins Light"/>
              <a:ea typeface="Poppins Light"/>
              <a:cs typeface="Poppins Light"/>
              <a:sym typeface="Poppins Light"/>
            </a:endParaRPr>
          </a:p>
        </p:txBody>
      </p:sp>
      <p:sp>
        <p:nvSpPr>
          <p:cNvPr id="26" name="TextBox 5"/>
          <p:cNvSpPr txBox="1"/>
          <p:nvPr/>
        </p:nvSpPr>
        <p:spPr>
          <a:xfrm>
            <a:off x="1371600" y="4305300"/>
            <a:ext cx="6381788" cy="1966820"/>
          </a:xfrm>
          <a:prstGeom prst="rect">
            <a:avLst/>
          </a:prstGeom>
        </p:spPr>
        <p:txBody>
          <a:bodyPr lIns="0" tIns="0" rIns="0" bIns="0" rtlCol="0" anchor="t">
            <a:spAutoFit/>
          </a:bodyPr>
          <a:lstStyle/>
          <a:p>
            <a:pPr algn="l">
              <a:lnSpc>
                <a:spcPts val="7927"/>
              </a:lnSpc>
            </a:pPr>
            <a:r>
              <a:rPr lang="en-US" sz="5400" b="1" spc="-87" dirty="0">
                <a:solidFill>
                  <a:srgbClr val="FAFAFA"/>
                </a:solidFill>
                <a:latin typeface="Poppins Bold"/>
                <a:ea typeface="Poppins Bold"/>
                <a:cs typeface="Poppins Bold"/>
                <a:sym typeface="Poppins Bold"/>
              </a:rPr>
              <a:t>FROM SILENCE TO A VERIFIED CLAIM</a:t>
            </a:r>
          </a:p>
        </p:txBody>
      </p:sp>
      <p:sp>
        <p:nvSpPr>
          <p:cNvPr id="31" name="TextBox 3"/>
          <p:cNvSpPr txBox="1"/>
          <p:nvPr/>
        </p:nvSpPr>
        <p:spPr>
          <a:xfrm>
            <a:off x="1600200" y="6972300"/>
            <a:ext cx="6858000" cy="1772537"/>
          </a:xfrm>
          <a:prstGeom prst="rect">
            <a:avLst/>
          </a:prstGeom>
        </p:spPr>
        <p:txBody>
          <a:bodyPr wrap="square" lIns="0" tIns="0" rIns="0" bIns="0" rtlCol="0" anchor="t">
            <a:spAutoFit/>
          </a:bodyPr>
          <a:lstStyle/>
          <a:p>
            <a:pPr algn="just">
              <a:lnSpc>
                <a:spcPts val="1750"/>
              </a:lnSpc>
              <a:spcAft>
                <a:spcPts val="500"/>
              </a:spcAft>
            </a:pPr>
            <a:r>
              <a:rPr lang="en-US" sz="2400" b="1" dirty="0">
                <a:solidFill>
                  <a:srgbClr val="FAFAFA"/>
                </a:solidFill>
                <a:latin typeface="Poppins Light"/>
                <a:ea typeface="Poppins Light"/>
                <a:cs typeface="Poppins Light"/>
                <a:sym typeface="Poppins Light"/>
              </a:rPr>
              <a:t>Step 1 — </a:t>
            </a:r>
            <a:r>
              <a:rPr lang="en-US" sz="2400" dirty="0">
                <a:solidFill>
                  <a:srgbClr val="FAFAFA"/>
                </a:solidFill>
                <a:latin typeface="Poppins Light"/>
                <a:ea typeface="Poppins Light"/>
                <a:cs typeface="Poppins Light"/>
                <a:sym typeface="Poppins Light"/>
              </a:rPr>
              <a:t>User Input: User locks minimal bank and asset metadata inside the encrypted vault</a:t>
            </a:r>
            <a:r>
              <a:rPr lang="en-US" sz="2400" dirty="0" smtClean="0">
                <a:solidFill>
                  <a:srgbClr val="FAFAFA"/>
                </a:solidFill>
                <a:latin typeface="Poppins Light"/>
                <a:ea typeface="Poppins Light"/>
                <a:cs typeface="Poppins Light"/>
                <a:sym typeface="Poppins Light"/>
              </a:rPr>
              <a:t>.</a:t>
            </a:r>
          </a:p>
          <a:p>
            <a:pPr algn="just">
              <a:lnSpc>
                <a:spcPts val="1750"/>
              </a:lnSpc>
              <a:spcAft>
                <a:spcPts val="500"/>
              </a:spcAft>
            </a:pPr>
            <a:endParaRPr lang="en-US" sz="2400" dirty="0">
              <a:solidFill>
                <a:srgbClr val="FAFAFA"/>
              </a:solidFill>
              <a:latin typeface="Poppins Light"/>
              <a:ea typeface="Poppins Light"/>
              <a:cs typeface="Poppins Light"/>
              <a:sym typeface="Poppins Light"/>
            </a:endParaRPr>
          </a:p>
          <a:p>
            <a:pPr algn="just">
              <a:lnSpc>
                <a:spcPts val="1750"/>
              </a:lnSpc>
            </a:pPr>
            <a:r>
              <a:rPr lang="en-US" sz="2400" b="1" dirty="0">
                <a:solidFill>
                  <a:srgbClr val="FAFAFA"/>
                </a:solidFill>
                <a:latin typeface="Poppins Light"/>
                <a:ea typeface="Poppins Light"/>
                <a:cs typeface="Poppins Light"/>
                <a:sym typeface="Poppins Light"/>
              </a:rPr>
              <a:t>Step 2 — </a:t>
            </a:r>
            <a:r>
              <a:rPr lang="en-US" sz="2400" dirty="0">
                <a:solidFill>
                  <a:srgbClr val="FAFAFA"/>
                </a:solidFill>
                <a:latin typeface="Poppins Light"/>
                <a:ea typeface="Poppins Light"/>
                <a:cs typeface="Poppins Light"/>
                <a:sym typeface="Poppins Light"/>
              </a:rPr>
              <a:t>The Silence Trigger: User misses three consecutive scheduled </a:t>
            </a:r>
            <a:r>
              <a:rPr lang="en-US" sz="2400" dirty="0" err="1" smtClean="0">
                <a:solidFill>
                  <a:srgbClr val="FAFAFA"/>
                </a:solidFill>
                <a:latin typeface="Poppins Light"/>
                <a:ea typeface="Poppins Light"/>
                <a:cs typeface="Poppins Light"/>
                <a:sym typeface="Poppins Light"/>
              </a:rPr>
              <a:t>Whats</a:t>
            </a:r>
            <a:r>
              <a:rPr lang="en-US" sz="2400" dirty="0" smtClean="0">
                <a:solidFill>
                  <a:srgbClr val="FAFAFA"/>
                </a:solidFill>
                <a:latin typeface="Poppins Light"/>
                <a:ea typeface="Poppins Light"/>
                <a:cs typeface="Poppins Light"/>
                <a:sym typeface="Poppins Light"/>
              </a:rPr>
              <a:t>-App </a:t>
            </a:r>
            <a:r>
              <a:rPr lang="en-US" sz="2400" dirty="0">
                <a:solidFill>
                  <a:srgbClr val="FAFAFA"/>
                </a:solidFill>
                <a:latin typeface="Poppins Light"/>
                <a:ea typeface="Poppins Light"/>
                <a:cs typeface="Poppins Light"/>
                <a:sym typeface="Poppins Light"/>
              </a:rPr>
              <a:t>check-ins.</a:t>
            </a:r>
          </a:p>
        </p:txBody>
      </p:sp>
      <p:pic>
        <p:nvPicPr>
          <p:cNvPr id="35" name="Picture 34" descr="WhatsApp Image 2026-08-31 at 10.41.21 PM.jpeg"/>
          <p:cNvPicPr>
            <a:picLocks noChangeAspect="1"/>
          </p:cNvPicPr>
          <p:nvPr/>
        </p:nvPicPr>
        <p:blipFill>
          <a:blip r:embed="rId5" cstate="print"/>
          <a:stretch>
            <a:fillRect/>
          </a:stretch>
        </p:blipFill>
        <p:spPr>
          <a:xfrm>
            <a:off x="9296400" y="1962150"/>
            <a:ext cx="3810359" cy="4552950"/>
          </a:xfrm>
          <a:prstGeom prst="rect">
            <a:avLst/>
          </a:prstGeom>
        </p:spPr>
      </p:pic>
      <p:sp>
        <p:nvSpPr>
          <p:cNvPr id="32" name="TextBox 4"/>
          <p:cNvSpPr txBox="1"/>
          <p:nvPr/>
        </p:nvSpPr>
        <p:spPr>
          <a:xfrm>
            <a:off x="9829800" y="6819900"/>
            <a:ext cx="6629400" cy="1974900"/>
          </a:xfrm>
          <a:prstGeom prst="rect">
            <a:avLst/>
          </a:prstGeom>
        </p:spPr>
        <p:txBody>
          <a:bodyPr wrap="square" lIns="0" tIns="0" rIns="0" bIns="0" rtlCol="0" anchor="t">
            <a:spAutoFit/>
          </a:bodyPr>
          <a:lstStyle/>
          <a:p>
            <a:pPr algn="just">
              <a:lnSpc>
                <a:spcPts val="1750"/>
              </a:lnSpc>
              <a:spcAft>
                <a:spcPts val="500"/>
              </a:spcAft>
            </a:pPr>
            <a:r>
              <a:rPr lang="en-US" sz="2400" b="1" dirty="0">
                <a:solidFill>
                  <a:srgbClr val="FAFAFA"/>
                </a:solidFill>
                <a:latin typeface="Poppins Light"/>
                <a:ea typeface="Poppins Light"/>
                <a:cs typeface="Poppins Light"/>
                <a:sym typeface="Poppins Light"/>
              </a:rPr>
              <a:t>Step 3 — </a:t>
            </a:r>
            <a:r>
              <a:rPr lang="en-US" sz="2400" dirty="0">
                <a:solidFill>
                  <a:srgbClr val="FAFAFA"/>
                </a:solidFill>
                <a:latin typeface="Poppins Light"/>
                <a:ea typeface="Poppins Light"/>
                <a:cs typeface="Poppins Light"/>
                <a:sym typeface="Poppins Light"/>
              </a:rPr>
              <a:t>Biometric Handshake: The designated nominee undergoes multi-factor secure KYC validation</a:t>
            </a:r>
            <a:r>
              <a:rPr lang="en-US" sz="2400" dirty="0" smtClean="0">
                <a:solidFill>
                  <a:srgbClr val="FAFAFA"/>
                </a:solidFill>
                <a:latin typeface="Poppins Light"/>
                <a:ea typeface="Poppins Light"/>
                <a:cs typeface="Poppins Light"/>
                <a:sym typeface="Poppins Light"/>
              </a:rPr>
              <a:t>.</a:t>
            </a:r>
          </a:p>
          <a:p>
            <a:pPr algn="just">
              <a:lnSpc>
                <a:spcPts val="1750"/>
              </a:lnSpc>
              <a:spcAft>
                <a:spcPts val="500"/>
              </a:spcAft>
            </a:pPr>
            <a:endParaRPr lang="en-US" sz="2400" b="1" dirty="0">
              <a:solidFill>
                <a:srgbClr val="FAFAFA"/>
              </a:solidFill>
              <a:latin typeface="Poppins Light"/>
              <a:ea typeface="Poppins Light"/>
              <a:cs typeface="Poppins Light"/>
              <a:sym typeface="Poppins Light"/>
            </a:endParaRPr>
          </a:p>
          <a:p>
            <a:pPr algn="just">
              <a:lnSpc>
                <a:spcPts val="1750"/>
              </a:lnSpc>
            </a:pPr>
            <a:r>
              <a:rPr lang="en-US" sz="2400" b="1" dirty="0">
                <a:solidFill>
                  <a:srgbClr val="FAFAFA"/>
                </a:solidFill>
                <a:latin typeface="Poppins Light"/>
                <a:ea typeface="Poppins Light"/>
                <a:cs typeface="Poppins Light"/>
                <a:sym typeface="Poppins Light"/>
              </a:rPr>
              <a:t>Step 4 — </a:t>
            </a:r>
            <a:r>
              <a:rPr lang="en-US" sz="2400" dirty="0">
                <a:solidFill>
                  <a:srgbClr val="FAFAFA"/>
                </a:solidFill>
                <a:latin typeface="Poppins Light"/>
                <a:ea typeface="Poppins Light"/>
                <a:cs typeface="Poppins Light"/>
                <a:sym typeface="Poppins Light"/>
              </a:rPr>
              <a:t>Autonomous Delivery: Gemini parses the data and auto-generates a downloadable, RBI-compliant Deceased Claim Dossier.</a:t>
            </a:r>
          </a:p>
        </p:txBody>
      </p:sp>
      <p:pic>
        <p:nvPicPr>
          <p:cNvPr id="36" name="Picture 35" descr="Screenshot 2026-09-10 002039.png"/>
          <p:cNvPicPr>
            <a:picLocks noChangeAspect="1"/>
          </p:cNvPicPr>
          <p:nvPr/>
        </p:nvPicPr>
        <p:blipFill>
          <a:blip r:embed="rId6" cstate="print"/>
          <a:stretch>
            <a:fillRect/>
          </a:stretch>
        </p:blipFill>
        <p:spPr>
          <a:xfrm>
            <a:off x="13182601" y="2185770"/>
            <a:ext cx="4648200" cy="29820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cstate="print"/>
            <a:stretch>
              <a:fillRect l="-60" r="-60"/>
            </a:stretch>
          </a:blipFill>
        </p:spPr>
      </p:sp>
      <p:sp>
        <p:nvSpPr>
          <p:cNvPr id="5" name="TextBox 5"/>
          <p:cNvSpPr txBox="1"/>
          <p:nvPr/>
        </p:nvSpPr>
        <p:spPr>
          <a:xfrm>
            <a:off x="1226505" y="4495681"/>
            <a:ext cx="6381788" cy="2085699"/>
          </a:xfrm>
          <a:prstGeom prst="rect">
            <a:avLst/>
          </a:prstGeom>
        </p:spPr>
        <p:txBody>
          <a:bodyPr lIns="0" tIns="0" rIns="0" bIns="0" rtlCol="0" anchor="t">
            <a:spAutoFit/>
          </a:bodyPr>
          <a:lstStyle/>
          <a:p>
            <a:pPr algn="l">
              <a:lnSpc>
                <a:spcPts val="7927"/>
              </a:lnSpc>
            </a:pPr>
            <a:r>
              <a:rPr lang="en-US" sz="8711" b="1" spc="-87" dirty="0" smtClean="0">
                <a:solidFill>
                  <a:srgbClr val="FAFAFA"/>
                </a:solidFill>
                <a:latin typeface="Poppins Bold"/>
                <a:ea typeface="Poppins Bold"/>
                <a:cs typeface="Poppins Bold"/>
                <a:sym typeface="Poppins Bold"/>
              </a:rPr>
              <a:t>TECH STACK -</a:t>
            </a:r>
            <a:endParaRPr lang="en-US" sz="8711" b="1" spc="-87" dirty="0">
              <a:solidFill>
                <a:srgbClr val="FAFAFA"/>
              </a:solidFill>
              <a:latin typeface="Poppins Bold"/>
              <a:ea typeface="Poppins Bold"/>
              <a:cs typeface="Poppins Bold"/>
              <a:sym typeface="Poppins Bold"/>
            </a:endParaRPr>
          </a:p>
        </p:txBody>
      </p:sp>
      <p:grpSp>
        <p:nvGrpSpPr>
          <p:cNvPr id="6" name="Group 6"/>
          <p:cNvGrpSpPr/>
          <p:nvPr/>
        </p:nvGrpSpPr>
        <p:grpSpPr>
          <a:xfrm>
            <a:off x="1028700" y="1041826"/>
            <a:ext cx="16230600" cy="897168"/>
            <a:chOff x="0" y="0"/>
            <a:chExt cx="4274726" cy="236291"/>
          </a:xfrm>
        </p:grpSpPr>
        <p:sp>
          <p:nvSpPr>
            <p:cNvPr id="7" name="Freeform 7"/>
            <p:cNvSpPr/>
            <p:nvPr/>
          </p:nvSpPr>
          <p:spPr>
            <a:xfrm>
              <a:off x="0" y="0"/>
              <a:ext cx="4274726" cy="236291"/>
            </a:xfrm>
            <a:custGeom>
              <a:avLst/>
              <a:gdLst/>
              <a:ahLst/>
              <a:cxnLst/>
              <a:rect l="l" t="t" r="r" b="b"/>
              <a:pathLst>
                <a:path w="4274726" h="236291">
                  <a:moveTo>
                    <a:pt x="47700" y="0"/>
                  </a:moveTo>
                  <a:lnTo>
                    <a:pt x="4227026" y="0"/>
                  </a:lnTo>
                  <a:cubicBezTo>
                    <a:pt x="4239677" y="0"/>
                    <a:pt x="4251809" y="5025"/>
                    <a:pt x="4260755" y="13971"/>
                  </a:cubicBezTo>
                  <a:cubicBezTo>
                    <a:pt x="4269700" y="22916"/>
                    <a:pt x="4274726" y="35049"/>
                    <a:pt x="4274726" y="47700"/>
                  </a:cubicBezTo>
                  <a:lnTo>
                    <a:pt x="4274726" y="188592"/>
                  </a:lnTo>
                  <a:cubicBezTo>
                    <a:pt x="4274726" y="201242"/>
                    <a:pt x="4269700" y="213375"/>
                    <a:pt x="4260755" y="222320"/>
                  </a:cubicBezTo>
                  <a:cubicBezTo>
                    <a:pt x="4251809" y="231266"/>
                    <a:pt x="4239677" y="236291"/>
                    <a:pt x="4227026" y="236291"/>
                  </a:cubicBezTo>
                  <a:lnTo>
                    <a:pt x="47700" y="236291"/>
                  </a:lnTo>
                  <a:cubicBezTo>
                    <a:pt x="35049" y="236291"/>
                    <a:pt x="22916" y="231266"/>
                    <a:pt x="13971" y="222320"/>
                  </a:cubicBezTo>
                  <a:cubicBezTo>
                    <a:pt x="5025" y="213375"/>
                    <a:pt x="0" y="201242"/>
                    <a:pt x="0" y="188592"/>
                  </a:cubicBezTo>
                  <a:lnTo>
                    <a:pt x="0" y="47700"/>
                  </a:lnTo>
                  <a:cubicBezTo>
                    <a:pt x="0" y="35049"/>
                    <a:pt x="5025" y="22916"/>
                    <a:pt x="13971" y="13971"/>
                  </a:cubicBezTo>
                  <a:cubicBezTo>
                    <a:pt x="22916" y="5025"/>
                    <a:pt x="35049" y="0"/>
                    <a:pt x="47700" y="0"/>
                  </a:cubicBezTo>
                  <a:close/>
                </a:path>
              </a:pathLst>
            </a:custGeom>
            <a:gradFill rotWithShape="1">
              <a:gsLst>
                <a:gs pos="0">
                  <a:srgbClr val="6E001E">
                    <a:alpha val="66000"/>
                  </a:srgbClr>
                </a:gs>
                <a:gs pos="50000">
                  <a:srgbClr val="65204C">
                    <a:alpha val="66000"/>
                  </a:srgbClr>
                </a:gs>
                <a:gs pos="100000">
                  <a:srgbClr val="69465D">
                    <a:alpha val="66000"/>
                  </a:srgbClr>
                </a:gs>
              </a:gsLst>
              <a:lin ang="2700000"/>
            </a:gradFill>
            <a:ln w="19050" cap="rnd">
              <a:solidFill>
                <a:srgbClr val="FFFFFF">
                  <a:alpha val="65882"/>
                </a:srgbClr>
              </a:solidFill>
              <a:prstDash val="solid"/>
              <a:round/>
            </a:ln>
          </p:spPr>
        </p:sp>
        <p:sp>
          <p:nvSpPr>
            <p:cNvPr id="8" name="TextBox 8"/>
            <p:cNvSpPr txBox="1"/>
            <p:nvPr/>
          </p:nvSpPr>
          <p:spPr>
            <a:xfrm>
              <a:off x="0" y="-57150"/>
              <a:ext cx="4274726" cy="293441"/>
            </a:xfrm>
            <a:prstGeom prst="rect">
              <a:avLst/>
            </a:prstGeom>
          </p:spPr>
          <p:txBody>
            <a:bodyPr lIns="50800" tIns="50800" rIns="50800" bIns="50800" rtlCol="0" anchor="ctr"/>
            <a:lstStyle/>
            <a:p>
              <a:pPr algn="ctr">
                <a:lnSpc>
                  <a:spcPts val="2659"/>
                </a:lnSpc>
                <a:spcBef>
                  <a:spcPct val="0"/>
                </a:spcBef>
              </a:pPr>
              <a:endParaRPr/>
            </a:p>
          </p:txBody>
        </p:sp>
      </p:grpSp>
      <p:sp>
        <p:nvSpPr>
          <p:cNvPr id="12" name="AutoShape 12"/>
          <p:cNvSpPr/>
          <p:nvPr/>
        </p:nvSpPr>
        <p:spPr>
          <a:xfrm flipV="1">
            <a:off x="1066800" y="9715500"/>
            <a:ext cx="16230600" cy="0"/>
          </a:xfrm>
          <a:prstGeom prst="line">
            <a:avLst/>
          </a:prstGeom>
          <a:ln w="38100" cap="flat">
            <a:solidFill>
              <a:srgbClr val="FFFFFF"/>
            </a:solidFill>
            <a:prstDash val="solid"/>
            <a:headEnd type="none" w="sm" len="sm"/>
            <a:tailEnd type="none" w="sm" len="sm"/>
          </a:ln>
        </p:spPr>
      </p:sp>
      <p:sp>
        <p:nvSpPr>
          <p:cNvPr id="13" name="TextBox 13"/>
          <p:cNvSpPr txBox="1"/>
          <p:nvPr/>
        </p:nvSpPr>
        <p:spPr>
          <a:xfrm>
            <a:off x="14630400" y="1356171"/>
            <a:ext cx="2248485" cy="282129"/>
          </a:xfrm>
          <a:prstGeom prst="rect">
            <a:avLst/>
          </a:prstGeom>
        </p:spPr>
        <p:txBody>
          <a:bodyPr wrap="square" lIns="0" tIns="0" rIns="0" bIns="0" rtlCol="0" anchor="t">
            <a:spAutoFit/>
          </a:bodyPr>
          <a:lstStyle/>
          <a:p>
            <a:pPr algn="r">
              <a:lnSpc>
                <a:spcPts val="2188"/>
              </a:lnSpc>
            </a:pPr>
            <a:r>
              <a:rPr lang="en-US" sz="2083" spc="-20" dirty="0" smtClean="0">
                <a:solidFill>
                  <a:srgbClr val="FFFFFF"/>
                </a:solidFill>
                <a:latin typeface="Poppins Light"/>
                <a:ea typeface="Poppins Light"/>
                <a:cs typeface="Poppins Light"/>
                <a:sym typeface="Poppins Light"/>
              </a:rPr>
              <a:t>GOOGLE CLOUD</a:t>
            </a:r>
            <a:endParaRPr lang="en-US" sz="2083" spc="-20" dirty="0">
              <a:solidFill>
                <a:srgbClr val="FFFFFF"/>
              </a:solidFill>
              <a:latin typeface="Poppins Light"/>
              <a:ea typeface="Poppins Light"/>
              <a:cs typeface="Poppins Light"/>
              <a:sym typeface="Poppins Light"/>
            </a:endParaRPr>
          </a:p>
        </p:txBody>
      </p:sp>
      <p:sp>
        <p:nvSpPr>
          <p:cNvPr id="14" name="TextBox 11"/>
          <p:cNvSpPr txBox="1"/>
          <p:nvPr/>
        </p:nvSpPr>
        <p:spPr>
          <a:xfrm>
            <a:off x="1328648" y="1356171"/>
            <a:ext cx="5453152" cy="282129"/>
          </a:xfrm>
          <a:prstGeom prst="rect">
            <a:avLst/>
          </a:prstGeom>
        </p:spPr>
        <p:txBody>
          <a:bodyPr wrap="square" lIns="0" tIns="0" rIns="0" bIns="0" rtlCol="0" anchor="t">
            <a:spAutoFit/>
          </a:bodyPr>
          <a:lstStyle/>
          <a:p>
            <a:pPr marL="449935" lvl="1" indent="-224967" algn="l">
              <a:lnSpc>
                <a:spcPts val="2188"/>
              </a:lnSpc>
              <a:buFont typeface="Arial"/>
              <a:buChar char="•"/>
            </a:pPr>
            <a:r>
              <a:rPr lang="en-US" sz="2083" spc="-20" dirty="0" smtClean="0">
                <a:solidFill>
                  <a:srgbClr val="FFFFFF"/>
                </a:solidFill>
                <a:latin typeface="Poppins Light"/>
                <a:ea typeface="Poppins Light"/>
                <a:cs typeface="Poppins Light"/>
                <a:sym typeface="Poppins Light"/>
              </a:rPr>
              <a:t>ALL INDIA AGENTIC HACKATHON 2026</a:t>
            </a:r>
            <a:endParaRPr lang="en-US" sz="2083" spc="-20" dirty="0">
              <a:solidFill>
                <a:srgbClr val="FFFFFF"/>
              </a:solidFill>
              <a:latin typeface="Poppins Light"/>
              <a:ea typeface="Poppins Light"/>
              <a:cs typeface="Poppins Light"/>
              <a:sym typeface="Poppins Light"/>
            </a:endParaRPr>
          </a:p>
        </p:txBody>
      </p:sp>
      <p:sp>
        <p:nvSpPr>
          <p:cNvPr id="16" name="TextBox 16"/>
          <p:cNvSpPr txBox="1"/>
          <p:nvPr/>
        </p:nvSpPr>
        <p:spPr>
          <a:xfrm>
            <a:off x="7010401" y="6072560"/>
            <a:ext cx="5105400" cy="2423740"/>
          </a:xfrm>
          <a:prstGeom prst="rect">
            <a:avLst/>
          </a:prstGeom>
        </p:spPr>
        <p:txBody>
          <a:bodyPr wrap="square" lIns="0" tIns="0" rIns="0" bIns="0" rtlCol="0" anchor="t">
            <a:spAutoFit/>
          </a:bodyPr>
          <a:lstStyle/>
          <a:p>
            <a:pPr algn="l">
              <a:lnSpc>
                <a:spcPts val="2098"/>
              </a:lnSpc>
            </a:pPr>
            <a:r>
              <a:rPr lang="en-US" sz="2400" b="1" dirty="0" smtClean="0">
                <a:solidFill>
                  <a:srgbClr val="FAFAFA"/>
                </a:solidFill>
                <a:latin typeface="Poppins Light"/>
                <a:ea typeface="Poppins Light"/>
                <a:cs typeface="Poppins Light"/>
                <a:sym typeface="Poppins Light"/>
              </a:rPr>
              <a:t>FRONT-END : </a:t>
            </a:r>
          </a:p>
          <a:p>
            <a:pPr algn="l">
              <a:lnSpc>
                <a:spcPts val="2098"/>
              </a:lnSpc>
            </a:pPr>
            <a:endParaRPr lang="en-US" sz="2000" b="1" dirty="0" smtClean="0">
              <a:solidFill>
                <a:srgbClr val="FAFAFA"/>
              </a:solidFill>
              <a:latin typeface="Poppins Light"/>
              <a:ea typeface="Poppins Light"/>
              <a:cs typeface="Poppins Light"/>
              <a:sym typeface="Poppins Light"/>
            </a:endParaRPr>
          </a:p>
          <a:p>
            <a:pPr algn="l">
              <a:lnSpc>
                <a:spcPts val="2098"/>
              </a:lnSpc>
            </a:pPr>
            <a:r>
              <a:rPr lang="en-US" sz="2000" b="1" dirty="0" smtClean="0">
                <a:solidFill>
                  <a:srgbClr val="FAFAFA"/>
                </a:solidFill>
                <a:latin typeface="Poppins Light"/>
                <a:ea typeface="Poppins Light"/>
                <a:cs typeface="Poppins Light"/>
                <a:sym typeface="Poppins Light"/>
              </a:rPr>
              <a:t>Technologies-</a:t>
            </a:r>
          </a:p>
          <a:p>
            <a:pPr algn="l">
              <a:lnSpc>
                <a:spcPts val="2098"/>
              </a:lnSpc>
            </a:pPr>
            <a:r>
              <a:rPr lang="en-US" sz="2000" b="1" dirty="0" smtClean="0">
                <a:solidFill>
                  <a:srgbClr val="FAFAFA"/>
                </a:solidFill>
                <a:latin typeface="Poppins Light"/>
                <a:ea typeface="Poppins Light"/>
                <a:cs typeface="Poppins Light"/>
                <a:sym typeface="Poppins Light"/>
              </a:rPr>
              <a:t>Client web/Mobile App interacts securely with the system</a:t>
            </a:r>
          </a:p>
          <a:p>
            <a:pPr algn="l">
              <a:lnSpc>
                <a:spcPts val="2098"/>
              </a:lnSpc>
            </a:pPr>
            <a:endParaRPr lang="en-US" sz="2000" b="1" dirty="0" smtClean="0">
              <a:solidFill>
                <a:srgbClr val="FAFAFA"/>
              </a:solidFill>
              <a:latin typeface="Poppins Light"/>
              <a:ea typeface="Poppins Light"/>
              <a:cs typeface="Poppins Light"/>
              <a:sym typeface="Poppins Light"/>
            </a:endParaRPr>
          </a:p>
          <a:p>
            <a:pPr algn="l">
              <a:lnSpc>
                <a:spcPts val="2098"/>
              </a:lnSpc>
            </a:pPr>
            <a:r>
              <a:rPr lang="en-US" sz="2000" b="1" dirty="0" smtClean="0">
                <a:solidFill>
                  <a:srgbClr val="FAFAFA"/>
                </a:solidFill>
                <a:latin typeface="Poppins Light"/>
                <a:ea typeface="Poppins Light"/>
                <a:cs typeface="Poppins Light"/>
                <a:sym typeface="Poppins Light"/>
              </a:rPr>
              <a:t>Purpose-</a:t>
            </a:r>
          </a:p>
          <a:p>
            <a:pPr algn="l">
              <a:lnSpc>
                <a:spcPts val="2098"/>
              </a:lnSpc>
            </a:pPr>
            <a:r>
              <a:rPr lang="en-US" sz="2000" b="1" dirty="0" smtClean="0">
                <a:solidFill>
                  <a:srgbClr val="FAFAFA"/>
                </a:solidFill>
                <a:latin typeface="Poppins Light"/>
                <a:ea typeface="Poppins Light"/>
                <a:cs typeface="Poppins Light"/>
                <a:sym typeface="Poppins Light"/>
              </a:rPr>
              <a:t>Handles secure user sessions, vault management, and document uploads.</a:t>
            </a:r>
            <a:r>
              <a:rPr lang="en-US" sz="2000" b="1" dirty="0" smtClean="0">
                <a:solidFill>
                  <a:srgbClr val="FAFAFA"/>
                </a:solidFill>
                <a:latin typeface="Poppins Light"/>
                <a:ea typeface="Poppins Light"/>
                <a:cs typeface="Poppins Light"/>
                <a:sym typeface="Poppins Light"/>
              </a:rPr>
              <a:t> </a:t>
            </a:r>
            <a:endParaRPr lang="en-US" sz="2000" b="1" dirty="0">
              <a:solidFill>
                <a:srgbClr val="FAFAFA"/>
              </a:solidFill>
              <a:latin typeface="Poppins Light"/>
              <a:ea typeface="Poppins Light"/>
              <a:cs typeface="Poppins Light"/>
              <a:sym typeface="Poppins Light"/>
            </a:endParaRPr>
          </a:p>
        </p:txBody>
      </p:sp>
      <p:sp>
        <p:nvSpPr>
          <p:cNvPr id="19" name="TextBox 16"/>
          <p:cNvSpPr txBox="1"/>
          <p:nvPr/>
        </p:nvSpPr>
        <p:spPr>
          <a:xfrm>
            <a:off x="7010400" y="2628900"/>
            <a:ext cx="5105400" cy="2962349"/>
          </a:xfrm>
          <a:prstGeom prst="rect">
            <a:avLst/>
          </a:prstGeom>
        </p:spPr>
        <p:txBody>
          <a:bodyPr wrap="square" lIns="0" tIns="0" rIns="0" bIns="0" rtlCol="0" anchor="t">
            <a:spAutoFit/>
          </a:bodyPr>
          <a:lstStyle/>
          <a:p>
            <a:pPr algn="l">
              <a:lnSpc>
                <a:spcPts val="2098"/>
              </a:lnSpc>
            </a:pPr>
            <a:r>
              <a:rPr lang="en-US" sz="2400" b="1" dirty="0" smtClean="0">
                <a:solidFill>
                  <a:srgbClr val="FAFAFA"/>
                </a:solidFill>
                <a:latin typeface="Poppins Light"/>
                <a:ea typeface="Poppins Light"/>
                <a:cs typeface="Poppins Light"/>
                <a:sym typeface="Poppins Light"/>
              </a:rPr>
              <a:t>API LAYER</a:t>
            </a:r>
            <a:r>
              <a:rPr lang="en-US" sz="2400" b="1" dirty="0" smtClean="0">
                <a:solidFill>
                  <a:srgbClr val="FAFAFA"/>
                </a:solidFill>
                <a:latin typeface="Poppins Light"/>
                <a:ea typeface="Poppins Light"/>
                <a:cs typeface="Poppins Light"/>
                <a:sym typeface="Poppins Light"/>
              </a:rPr>
              <a:t> : </a:t>
            </a:r>
          </a:p>
          <a:p>
            <a:pPr algn="l">
              <a:lnSpc>
                <a:spcPts val="2098"/>
              </a:lnSpc>
            </a:pPr>
            <a:endParaRPr lang="en-US" sz="2000" b="1" dirty="0" smtClean="0">
              <a:solidFill>
                <a:srgbClr val="FAFAFA"/>
              </a:solidFill>
              <a:latin typeface="Poppins Light"/>
              <a:ea typeface="Poppins Light"/>
              <a:cs typeface="Poppins Light"/>
              <a:sym typeface="Poppins Light"/>
            </a:endParaRPr>
          </a:p>
          <a:p>
            <a:pPr algn="l">
              <a:lnSpc>
                <a:spcPts val="2098"/>
              </a:lnSpc>
            </a:pPr>
            <a:r>
              <a:rPr lang="en-US" sz="2000" b="1" dirty="0" smtClean="0">
                <a:solidFill>
                  <a:srgbClr val="FAFAFA"/>
                </a:solidFill>
                <a:latin typeface="Poppins Light"/>
                <a:ea typeface="Poppins Light"/>
                <a:cs typeface="Poppins Light"/>
                <a:sym typeface="Poppins Light"/>
              </a:rPr>
              <a:t>Technologies-</a:t>
            </a:r>
          </a:p>
          <a:p>
            <a:pPr algn="l">
              <a:lnSpc>
                <a:spcPts val="2098"/>
              </a:lnSpc>
            </a:pPr>
            <a:r>
              <a:rPr lang="en-US" sz="2000" b="1" dirty="0" err="1" smtClean="0">
                <a:solidFill>
                  <a:srgbClr val="FAFAFA"/>
                </a:solidFill>
                <a:latin typeface="Poppins Light"/>
                <a:ea typeface="Poppins Light"/>
                <a:cs typeface="Poppins Light"/>
                <a:sym typeface="Poppins Light"/>
              </a:rPr>
              <a:t>NestJS</a:t>
            </a:r>
            <a:r>
              <a:rPr lang="en-US" sz="2000" b="1" dirty="0" smtClean="0">
                <a:solidFill>
                  <a:srgbClr val="FAFAFA"/>
                </a:solidFill>
                <a:latin typeface="Poppins Light"/>
                <a:ea typeface="Poppins Light"/>
                <a:cs typeface="Poppins Light"/>
                <a:sym typeface="Poppins Light"/>
              </a:rPr>
              <a:t> Guards, Interceptors, and Pre-signed URLs.</a:t>
            </a:r>
            <a:endParaRPr lang="en-US" sz="2000" b="1" dirty="0" smtClean="0">
              <a:solidFill>
                <a:srgbClr val="FAFAFA"/>
              </a:solidFill>
              <a:latin typeface="Poppins Light"/>
              <a:ea typeface="Poppins Light"/>
              <a:cs typeface="Poppins Light"/>
              <a:sym typeface="Poppins Light"/>
            </a:endParaRPr>
          </a:p>
          <a:p>
            <a:pPr algn="l">
              <a:lnSpc>
                <a:spcPts val="2098"/>
              </a:lnSpc>
            </a:pPr>
            <a:endParaRPr lang="en-US" sz="2000" b="1" dirty="0" smtClean="0">
              <a:solidFill>
                <a:srgbClr val="FAFAFA"/>
              </a:solidFill>
              <a:latin typeface="Poppins Light"/>
              <a:ea typeface="Poppins Light"/>
              <a:cs typeface="Poppins Light"/>
              <a:sym typeface="Poppins Light"/>
            </a:endParaRPr>
          </a:p>
          <a:p>
            <a:pPr algn="l">
              <a:lnSpc>
                <a:spcPts val="2098"/>
              </a:lnSpc>
            </a:pPr>
            <a:r>
              <a:rPr lang="en-US" sz="2000" b="1" dirty="0" smtClean="0">
                <a:solidFill>
                  <a:srgbClr val="FAFAFA"/>
                </a:solidFill>
                <a:latin typeface="Poppins Light"/>
                <a:ea typeface="Poppins Light"/>
                <a:cs typeface="Poppins Light"/>
                <a:sym typeface="Poppins Light"/>
              </a:rPr>
              <a:t>Purpose-</a:t>
            </a:r>
          </a:p>
          <a:p>
            <a:pPr algn="l">
              <a:lnSpc>
                <a:spcPts val="2098"/>
              </a:lnSpc>
            </a:pPr>
            <a:r>
              <a:rPr lang="en-US" sz="2000" b="1" dirty="0" smtClean="0">
                <a:solidFill>
                  <a:srgbClr val="FAFAFA"/>
                </a:solidFill>
                <a:latin typeface="Poppins Light"/>
                <a:ea typeface="Poppins Light"/>
                <a:cs typeface="Poppins Light"/>
                <a:sym typeface="Poppins Light"/>
              </a:rPr>
              <a:t>Secure communication, throttles requests via rate-limiting, and generates encrypted temporary upload links. </a:t>
            </a:r>
            <a:endParaRPr lang="en-US" sz="2000" b="1" dirty="0">
              <a:solidFill>
                <a:srgbClr val="FAFAFA"/>
              </a:solidFill>
              <a:latin typeface="Poppins Light"/>
              <a:ea typeface="Poppins Light"/>
              <a:cs typeface="Poppins Light"/>
              <a:sym typeface="Poppins Light"/>
            </a:endParaRPr>
          </a:p>
        </p:txBody>
      </p:sp>
      <p:sp>
        <p:nvSpPr>
          <p:cNvPr id="20" name="TextBox 16"/>
          <p:cNvSpPr txBox="1"/>
          <p:nvPr/>
        </p:nvSpPr>
        <p:spPr>
          <a:xfrm>
            <a:off x="12573000" y="6057900"/>
            <a:ext cx="5105400" cy="2962349"/>
          </a:xfrm>
          <a:prstGeom prst="rect">
            <a:avLst/>
          </a:prstGeom>
        </p:spPr>
        <p:txBody>
          <a:bodyPr wrap="square" lIns="0" tIns="0" rIns="0" bIns="0" rtlCol="0" anchor="t">
            <a:spAutoFit/>
          </a:bodyPr>
          <a:lstStyle/>
          <a:p>
            <a:pPr>
              <a:lnSpc>
                <a:spcPts val="2098"/>
              </a:lnSpc>
            </a:pPr>
            <a:r>
              <a:rPr lang="en-US" sz="2400" b="1" dirty="0" smtClean="0">
                <a:solidFill>
                  <a:srgbClr val="FAFAFA"/>
                </a:solidFill>
                <a:latin typeface="Poppins Light"/>
                <a:ea typeface="Poppins Light"/>
                <a:cs typeface="Poppins Light"/>
                <a:sym typeface="Poppins Light"/>
              </a:rPr>
              <a:t>BACK-END</a:t>
            </a:r>
            <a:r>
              <a:rPr lang="en-US" sz="2400" b="1" dirty="0" smtClean="0">
                <a:solidFill>
                  <a:srgbClr val="FAFAFA"/>
                </a:solidFill>
                <a:latin typeface="Poppins Light"/>
                <a:ea typeface="Poppins Light"/>
                <a:cs typeface="Poppins Light"/>
                <a:sym typeface="Poppins Light"/>
              </a:rPr>
              <a:t> : </a:t>
            </a:r>
          </a:p>
          <a:p>
            <a:pPr algn="l">
              <a:lnSpc>
                <a:spcPts val="2098"/>
              </a:lnSpc>
            </a:pPr>
            <a:endParaRPr lang="en-US" sz="2000" b="1" dirty="0" smtClean="0">
              <a:solidFill>
                <a:srgbClr val="FAFAFA"/>
              </a:solidFill>
              <a:latin typeface="Poppins Light"/>
              <a:ea typeface="Poppins Light"/>
              <a:cs typeface="Poppins Light"/>
              <a:sym typeface="Poppins Light"/>
            </a:endParaRPr>
          </a:p>
          <a:p>
            <a:pPr algn="l">
              <a:lnSpc>
                <a:spcPts val="2098"/>
              </a:lnSpc>
            </a:pPr>
            <a:r>
              <a:rPr lang="en-US" sz="2000" b="1" dirty="0" smtClean="0">
                <a:solidFill>
                  <a:srgbClr val="FAFAFA"/>
                </a:solidFill>
                <a:latin typeface="Poppins Light"/>
                <a:ea typeface="Poppins Light"/>
                <a:cs typeface="Poppins Light"/>
                <a:sym typeface="Poppins Light"/>
              </a:rPr>
              <a:t>Technologies-</a:t>
            </a:r>
          </a:p>
          <a:p>
            <a:pPr algn="l">
              <a:lnSpc>
                <a:spcPts val="2098"/>
              </a:lnSpc>
            </a:pPr>
            <a:r>
              <a:rPr lang="en-US" sz="2000" b="1" dirty="0" smtClean="0">
                <a:solidFill>
                  <a:srgbClr val="FAFAFA"/>
                </a:solidFill>
                <a:latin typeface="Poppins Light"/>
                <a:ea typeface="Poppins Light"/>
                <a:cs typeface="Poppins Light"/>
                <a:sym typeface="Poppins Light"/>
              </a:rPr>
              <a:t>Node.js 20 LTS, </a:t>
            </a:r>
            <a:r>
              <a:rPr lang="en-US" sz="2000" b="1" dirty="0" err="1" smtClean="0">
                <a:solidFill>
                  <a:srgbClr val="FAFAFA"/>
                </a:solidFill>
                <a:latin typeface="Poppins Light"/>
                <a:ea typeface="Poppins Light"/>
                <a:cs typeface="Poppins Light"/>
                <a:sym typeface="Poppins Light"/>
              </a:rPr>
              <a:t>TypeScript</a:t>
            </a:r>
            <a:r>
              <a:rPr lang="en-US" sz="2000" b="1" dirty="0" smtClean="0">
                <a:solidFill>
                  <a:srgbClr val="FAFAFA"/>
                </a:solidFill>
                <a:latin typeface="Poppins Light"/>
                <a:ea typeface="Poppins Light"/>
                <a:cs typeface="Poppins Light"/>
                <a:sym typeface="Poppins Light"/>
              </a:rPr>
              <a:t>, </a:t>
            </a:r>
            <a:r>
              <a:rPr lang="en-US" sz="2000" b="1" dirty="0" err="1" smtClean="0">
                <a:solidFill>
                  <a:srgbClr val="FAFAFA"/>
                </a:solidFill>
                <a:latin typeface="Poppins Light"/>
                <a:ea typeface="Poppins Light"/>
                <a:cs typeface="Poppins Light"/>
                <a:sym typeface="Poppins Light"/>
              </a:rPr>
              <a:t>NestJS</a:t>
            </a:r>
            <a:r>
              <a:rPr lang="en-US" sz="2000" b="1" dirty="0" smtClean="0">
                <a:solidFill>
                  <a:srgbClr val="FAFAFA"/>
                </a:solidFill>
                <a:latin typeface="Poppins Light"/>
                <a:ea typeface="Poppins Light"/>
                <a:cs typeface="Poppins Light"/>
                <a:sym typeface="Poppins Light"/>
              </a:rPr>
              <a:t>, </a:t>
            </a:r>
            <a:r>
              <a:rPr lang="en-US" sz="2000" b="1" dirty="0" err="1" smtClean="0">
                <a:solidFill>
                  <a:srgbClr val="FAFAFA"/>
                </a:solidFill>
                <a:latin typeface="Poppins Light"/>
                <a:ea typeface="Poppins Light"/>
                <a:cs typeface="Poppins Light"/>
                <a:sym typeface="Poppins Light"/>
              </a:rPr>
              <a:t>Redis</a:t>
            </a:r>
            <a:r>
              <a:rPr lang="en-US" sz="2000" b="1" dirty="0" smtClean="0">
                <a:solidFill>
                  <a:srgbClr val="FAFAFA"/>
                </a:solidFill>
                <a:latin typeface="Poppins Light"/>
                <a:ea typeface="Poppins Light"/>
                <a:cs typeface="Poppins Light"/>
                <a:sym typeface="Poppins Light"/>
              </a:rPr>
              <a:t> 7 + BullMQ</a:t>
            </a:r>
          </a:p>
          <a:p>
            <a:pPr algn="l">
              <a:lnSpc>
                <a:spcPts val="2098"/>
              </a:lnSpc>
            </a:pPr>
            <a:endParaRPr lang="en-US" sz="2000" b="1" dirty="0" smtClean="0">
              <a:solidFill>
                <a:srgbClr val="FAFAFA"/>
              </a:solidFill>
              <a:latin typeface="Poppins Light"/>
              <a:ea typeface="Poppins Light"/>
              <a:cs typeface="Poppins Light"/>
              <a:sym typeface="Poppins Light"/>
            </a:endParaRPr>
          </a:p>
          <a:p>
            <a:pPr algn="l">
              <a:lnSpc>
                <a:spcPts val="2098"/>
              </a:lnSpc>
            </a:pPr>
            <a:r>
              <a:rPr lang="en-US" sz="2000" b="1" dirty="0" smtClean="0">
                <a:solidFill>
                  <a:srgbClr val="FAFAFA"/>
                </a:solidFill>
                <a:latin typeface="Poppins Light"/>
                <a:ea typeface="Poppins Light"/>
                <a:cs typeface="Poppins Light"/>
                <a:sym typeface="Poppins Light"/>
              </a:rPr>
              <a:t>Purpose-</a:t>
            </a:r>
          </a:p>
          <a:p>
            <a:pPr algn="l">
              <a:lnSpc>
                <a:spcPts val="2098"/>
              </a:lnSpc>
            </a:pPr>
            <a:r>
              <a:rPr lang="en-US" sz="2000" b="1" dirty="0" smtClean="0">
                <a:solidFill>
                  <a:srgbClr val="FAFAFA"/>
                </a:solidFill>
                <a:latin typeface="Poppins Light"/>
                <a:ea typeface="Poppins Light"/>
                <a:cs typeface="Poppins Light"/>
                <a:sym typeface="Poppins Light"/>
              </a:rPr>
              <a:t>Executes business rules, processes check-in reminders, scales escalation workflows, and handles background notification dispatch.</a:t>
            </a:r>
            <a:endParaRPr lang="en-US" sz="2000" b="1" dirty="0" smtClean="0">
              <a:solidFill>
                <a:srgbClr val="FAFAFA"/>
              </a:solidFill>
              <a:latin typeface="Poppins Light"/>
              <a:ea typeface="Poppins Light"/>
              <a:cs typeface="Poppins Light"/>
              <a:sym typeface="Poppins Light"/>
            </a:endParaRPr>
          </a:p>
        </p:txBody>
      </p:sp>
      <p:sp>
        <p:nvSpPr>
          <p:cNvPr id="21" name="TextBox 16"/>
          <p:cNvSpPr txBox="1"/>
          <p:nvPr/>
        </p:nvSpPr>
        <p:spPr>
          <a:xfrm>
            <a:off x="12573000" y="2638351"/>
            <a:ext cx="5105400" cy="2962349"/>
          </a:xfrm>
          <a:prstGeom prst="rect">
            <a:avLst/>
          </a:prstGeom>
        </p:spPr>
        <p:txBody>
          <a:bodyPr wrap="square" lIns="0" tIns="0" rIns="0" bIns="0" rtlCol="0" anchor="t">
            <a:spAutoFit/>
          </a:bodyPr>
          <a:lstStyle/>
          <a:p>
            <a:pPr algn="l">
              <a:lnSpc>
                <a:spcPts val="2098"/>
              </a:lnSpc>
            </a:pPr>
            <a:r>
              <a:rPr lang="en-US" sz="2400" b="1" dirty="0" smtClean="0">
                <a:solidFill>
                  <a:srgbClr val="FAFAFA"/>
                </a:solidFill>
                <a:latin typeface="Poppins Light"/>
                <a:ea typeface="Poppins Light"/>
                <a:cs typeface="Poppins Light"/>
                <a:sym typeface="Poppins Light"/>
              </a:rPr>
              <a:t>DATABASE &amp; STORAGE </a:t>
            </a:r>
            <a:r>
              <a:rPr lang="en-US" sz="2400" b="1" dirty="0" smtClean="0">
                <a:solidFill>
                  <a:srgbClr val="FAFAFA"/>
                </a:solidFill>
                <a:latin typeface="Poppins Light"/>
                <a:ea typeface="Poppins Light"/>
                <a:cs typeface="Poppins Light"/>
                <a:sym typeface="Poppins Light"/>
              </a:rPr>
              <a:t>: </a:t>
            </a:r>
          </a:p>
          <a:p>
            <a:pPr algn="l">
              <a:lnSpc>
                <a:spcPts val="2098"/>
              </a:lnSpc>
            </a:pPr>
            <a:endParaRPr lang="en-US" sz="2000" b="1" dirty="0" smtClean="0">
              <a:solidFill>
                <a:srgbClr val="FAFAFA"/>
              </a:solidFill>
              <a:latin typeface="Poppins Light"/>
              <a:ea typeface="Poppins Light"/>
              <a:cs typeface="Poppins Light"/>
              <a:sym typeface="Poppins Light"/>
            </a:endParaRPr>
          </a:p>
          <a:p>
            <a:pPr algn="l">
              <a:lnSpc>
                <a:spcPts val="2098"/>
              </a:lnSpc>
            </a:pPr>
            <a:r>
              <a:rPr lang="en-US" sz="2000" b="1" dirty="0" smtClean="0">
                <a:solidFill>
                  <a:srgbClr val="FAFAFA"/>
                </a:solidFill>
                <a:latin typeface="Poppins Light"/>
                <a:ea typeface="Poppins Light"/>
                <a:cs typeface="Poppins Light"/>
                <a:sym typeface="Poppins Light"/>
              </a:rPr>
              <a:t>Technologies-</a:t>
            </a:r>
          </a:p>
          <a:p>
            <a:pPr algn="l">
              <a:lnSpc>
                <a:spcPts val="2098"/>
              </a:lnSpc>
            </a:pPr>
            <a:r>
              <a:rPr lang="en-US" sz="2000" b="1" dirty="0" err="1" smtClean="0">
                <a:solidFill>
                  <a:srgbClr val="FAFAFA"/>
                </a:solidFill>
                <a:latin typeface="Poppins Light"/>
                <a:ea typeface="Poppins Light"/>
                <a:cs typeface="Poppins Light"/>
                <a:sym typeface="Poppins Light"/>
              </a:rPr>
              <a:t>PostgreSQL</a:t>
            </a:r>
            <a:r>
              <a:rPr lang="en-US" sz="2000" b="1" dirty="0" smtClean="0">
                <a:solidFill>
                  <a:srgbClr val="FAFAFA"/>
                </a:solidFill>
                <a:latin typeface="Poppins Light"/>
                <a:ea typeface="Poppins Light"/>
                <a:cs typeface="Poppins Light"/>
                <a:sym typeface="Poppins Light"/>
              </a:rPr>
              <a:t> 16, </a:t>
            </a:r>
            <a:r>
              <a:rPr lang="en-US" sz="2000" b="1" dirty="0" err="1" smtClean="0">
                <a:solidFill>
                  <a:srgbClr val="FAFAFA"/>
                </a:solidFill>
                <a:latin typeface="Poppins Light"/>
                <a:ea typeface="Poppins Light"/>
                <a:cs typeface="Poppins Light"/>
                <a:sym typeface="Poppins Light"/>
              </a:rPr>
              <a:t>Prisma</a:t>
            </a:r>
            <a:r>
              <a:rPr lang="en-US" sz="2000" b="1" dirty="0" smtClean="0">
                <a:solidFill>
                  <a:srgbClr val="FAFAFA"/>
                </a:solidFill>
                <a:latin typeface="Poppins Light"/>
                <a:ea typeface="Poppins Light"/>
                <a:cs typeface="Poppins Light"/>
                <a:sym typeface="Poppins Light"/>
              </a:rPr>
              <a:t> ORM, and Cloud Object Storage (AWS S3 / GCS)</a:t>
            </a:r>
          </a:p>
          <a:p>
            <a:pPr algn="l">
              <a:lnSpc>
                <a:spcPts val="2098"/>
              </a:lnSpc>
            </a:pPr>
            <a:endParaRPr lang="en-US" sz="2000" b="1" dirty="0" smtClean="0">
              <a:solidFill>
                <a:srgbClr val="FAFAFA"/>
              </a:solidFill>
              <a:latin typeface="Poppins Light"/>
              <a:ea typeface="Poppins Light"/>
              <a:cs typeface="Poppins Light"/>
              <a:sym typeface="Poppins Light"/>
            </a:endParaRPr>
          </a:p>
          <a:p>
            <a:pPr algn="l">
              <a:lnSpc>
                <a:spcPts val="2098"/>
              </a:lnSpc>
            </a:pPr>
            <a:r>
              <a:rPr lang="en-US" sz="2000" b="1" dirty="0" smtClean="0">
                <a:solidFill>
                  <a:srgbClr val="FAFAFA"/>
                </a:solidFill>
                <a:latin typeface="Poppins Light"/>
                <a:ea typeface="Poppins Light"/>
                <a:cs typeface="Poppins Light"/>
                <a:sym typeface="Poppins Light"/>
              </a:rPr>
              <a:t>Purpose- Guarantees ACID compliance for immutable audit Trails, runs full- text asset searches, and holds encrypted vault documents.</a:t>
            </a:r>
          </a:p>
          <a:p>
            <a:pPr algn="l">
              <a:lnSpc>
                <a:spcPts val="2098"/>
              </a:lnSpc>
            </a:pPr>
            <a:endParaRPr lang="en-US" sz="2000" b="1" dirty="0" smtClean="0">
              <a:solidFill>
                <a:srgbClr val="FAFAFA"/>
              </a:solidFill>
              <a:latin typeface="Poppins Light"/>
              <a:ea typeface="Poppins Light"/>
              <a:cs typeface="Poppins Light"/>
              <a:sym typeface="Poppins Light"/>
            </a:endParaRPr>
          </a:p>
        </p:txBody>
      </p:sp>
      <p:sp>
        <p:nvSpPr>
          <p:cNvPr id="22" name="TextBox 11"/>
          <p:cNvSpPr txBox="1"/>
          <p:nvPr/>
        </p:nvSpPr>
        <p:spPr>
          <a:xfrm>
            <a:off x="6629400" y="9271417"/>
            <a:ext cx="5453152" cy="291683"/>
          </a:xfrm>
          <a:prstGeom prst="rect">
            <a:avLst/>
          </a:prstGeom>
        </p:spPr>
        <p:txBody>
          <a:bodyPr wrap="square" lIns="0" tIns="0" rIns="0" bIns="0" rtlCol="0" anchor="t">
            <a:spAutoFit/>
          </a:bodyPr>
          <a:lstStyle/>
          <a:p>
            <a:pPr marL="449935" lvl="1" indent="-224967" algn="l">
              <a:lnSpc>
                <a:spcPts val="2188"/>
              </a:lnSpc>
            </a:pPr>
            <a:r>
              <a:rPr lang="en-US" sz="2083" b="1" spc="-20" dirty="0" smtClean="0">
                <a:solidFill>
                  <a:srgbClr val="FFFFFF"/>
                </a:solidFill>
                <a:latin typeface="Bradley Hand ITC" pitchFamily="66" charset="0"/>
                <a:ea typeface="Poppins Light"/>
                <a:cs typeface="Poppins Light"/>
                <a:sym typeface="Poppins Light"/>
              </a:rPr>
              <a:t>*</a:t>
            </a:r>
            <a:r>
              <a:rPr lang="en-US" sz="2083" b="1" spc="-20" dirty="0" smtClean="0">
                <a:solidFill>
                  <a:srgbClr val="FFFFFF"/>
                </a:solidFill>
                <a:latin typeface="Bradley Hand ITC" pitchFamily="66" charset="0"/>
                <a:ea typeface="Poppins Light"/>
                <a:cs typeface="Poppins Light"/>
                <a:sym typeface="Poppins Light"/>
              </a:rPr>
              <a:t>THANK YOU – TEAM LEGACY LOCK*</a:t>
            </a:r>
            <a:endParaRPr lang="en-US" sz="2083" b="1" spc="-20" dirty="0">
              <a:solidFill>
                <a:srgbClr val="FFFFFF"/>
              </a:solidFill>
              <a:latin typeface="Bradley Hand ITC" pitchFamily="66" charset="0"/>
              <a:ea typeface="Poppins Light"/>
              <a:cs typeface="Poppins Light"/>
              <a:sym typeface="Poppins Ligh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393</TotalTime>
  <Words>686</Words>
  <Application>Microsoft Office PowerPoint</Application>
  <PresentationFormat>Custom</PresentationFormat>
  <Paragraphs>91</Paragraphs>
  <Slides>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Arial</vt:lpstr>
      <vt:lpstr>Calibri</vt:lpstr>
      <vt:lpstr>Futura</vt:lpstr>
      <vt:lpstr>Poppins Light</vt:lpstr>
      <vt:lpstr>Futura Bold</vt:lpstr>
      <vt:lpstr>Poppins Bold</vt:lpstr>
      <vt:lpstr>Microsoft Yi Baiti</vt:lpstr>
      <vt:lpstr>Bradley Hand ITC</vt:lpstr>
      <vt:lpstr>Office Theme</vt:lpstr>
      <vt:lpstr>Slide 1</vt:lpstr>
      <vt:lpstr>Slide 2</vt:lpstr>
      <vt:lpstr>Slide 3</vt:lpstr>
      <vt:lpstr>Slide 4</vt:lpstr>
      <vt:lpstr>Slide 5</vt:lpstr>
      <vt:lpstr>Slide 6</vt:lpstr>
      <vt:lpstr>Slide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Pink and Purple Modern The Future of AI Presentation</dc:title>
  <dc:creator>hp</dc:creator>
  <cp:lastModifiedBy>hp</cp:lastModifiedBy>
  <cp:revision>45</cp:revision>
  <dcterms:created xsi:type="dcterms:W3CDTF">2006-08-16T00:00:00Z</dcterms:created>
  <dcterms:modified xsi:type="dcterms:W3CDTF">2026-09-09T18:52:54Z</dcterms:modified>
  <dc:identifier>DAHT4iIIRW8</dc:identifier>
</cp:coreProperties>
</file>